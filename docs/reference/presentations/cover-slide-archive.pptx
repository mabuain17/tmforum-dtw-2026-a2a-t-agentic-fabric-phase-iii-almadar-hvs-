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8322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8" autoAdjust="0"/>
    <p:restoredTop sz="94660"/>
  </p:normalViewPr>
  <p:slideViewPr>
    <p:cSldViewPr snapToGrid="0">
      <p:cViewPr varScale="1">
        <p:scale>
          <a:sx n="88" d="100"/>
          <a:sy n="88" d="100"/>
        </p:scale>
        <p:origin x="93" y="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CE666-EA13-4FAF-B3CC-C369C83BD593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8B89CC-10FC-43AF-8A7A-38CDC544E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03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911B-22E9-4B57-A120-B7590DCD5A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93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E3E3F-7788-4C08-9CB9-7D9B7996E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24D70-F288-474C-9C0A-B4B8D52BF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8EE24-C580-4E7F-875E-87AB2CCE1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79A2-1A43-4B2F-B6B0-112B2EBDDB5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5A237-BE2D-496F-A3D4-13FCAF0CE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09B12-4A6C-4D45-AE4A-E8BF4EEA0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78FE-BEBD-4186-BA76-F3A9FEAA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5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8DCF4-D9B8-4EF7-A705-8C3002CC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D5C63-79C0-4332-9341-C10B4D280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0561D-5EE6-4A36-8D77-CCCFC7D8C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79A2-1A43-4B2F-B6B0-112B2EBDDB5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5811B-1702-433B-987B-CFCF9B05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1B3AB-5FFE-417E-B22A-16D1E3C44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78FE-BEBD-4186-BA76-F3A9FEAA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23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76DE9-F335-4759-9144-F3FE20E1A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5BE56-61E5-46A9-8870-CD2B5E08A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E9282-6373-4433-BB85-057CACA8D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79A2-1A43-4B2F-B6B0-112B2EBDDB5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EC709-4C28-4E9D-91D8-336FBC61A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3A8A7-0A2C-4FB6-A641-798479217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78FE-BEBD-4186-BA76-F3A9FEAA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703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BA219-6BAA-446B-A850-AFE870B92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AE0FF-11F5-4367-A3FC-96EFC20D1E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A6B9-D69F-443B-B298-0C0EE0361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427A6-4131-4029-B92D-DE345CEFD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79A2-1A43-4B2F-B6B0-112B2EBDDB5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2F40D-6C23-4CAB-B367-A81EC72CB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84D33-47E5-4991-B484-53D8B9C35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78FE-BEBD-4186-BA76-F3A9FEAA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5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CA6F2-2F2F-4B43-9590-D78937429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2CAC4-C1DC-442B-BAC5-259BB4C35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7598D-398E-4E35-8B20-41CB04C9E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CAEA80-795E-4911-BF85-D0829823C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0D91A6-893A-4F97-A067-436DDC9070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1DE57B-0822-49F2-A75C-A5FA78293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79A2-1A43-4B2F-B6B0-112B2EBDDB5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8FF644-18E3-4588-9467-9B04FD00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F35CC7-650A-43B4-8E04-47BBF6422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78FE-BEBD-4186-BA76-F3A9FEAA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13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E28F6-1AF9-4992-9F3F-E0D2955A9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3BAC18-75C8-4BF2-80F6-38703CA3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79A2-1A43-4B2F-B6B0-112B2EBDDB5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47DCD4-A0B2-40F2-A212-98E95ADF7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B18ABE-B897-4D2A-859F-4B5A001BC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78FE-BEBD-4186-BA76-F3A9FEAA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1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A3EBC-05CE-48C2-8AEC-93A4CC37A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79A2-1A43-4B2F-B6B0-112B2EBDDB5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1B0846-4410-408F-8277-FE03AEA7D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39A4F-205F-474E-AEB5-14E0F09E2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78FE-BEBD-4186-BA76-F3A9FEAA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65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25D55-FB7E-4599-8290-29F75148D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042F8-985F-4751-B4B3-55012690E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8BCD2-54E1-4AAA-873E-589EAAD55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9D5E7-4854-43F0-9620-2C63C13CA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79A2-1A43-4B2F-B6B0-112B2EBDDB5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D1B94-9DB0-4EEC-BF6A-F5DF059CD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F5A28-891A-4F86-9E16-B57E75990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78FE-BEBD-4186-BA76-F3A9FEAA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2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80B52-D4E3-489C-903A-E36A47C89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774C59-C852-4FEC-AE2F-ED580A3DE2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BCE12-91FB-4917-9A7B-A121983B3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09EE5-9F5F-4C13-B0B4-3046FB2B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79A2-1A43-4B2F-B6B0-112B2EBDDB5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0CA8B-682B-49EE-983B-6DD5DDA39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E5648-13D7-48AC-A7BC-73C7D87E9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78FE-BEBD-4186-BA76-F3A9FEAA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43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F9EF0-4EDF-41A1-BFFC-63F03565D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07952-F82A-44DD-B9A3-43C2474A24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29D5B-4EFA-4B33-A32A-4A710F60C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79A2-1A43-4B2F-B6B0-112B2EBDDB5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BAF64-BAEB-43C5-ADA8-EEBFA9B30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AD984-C4B0-47F2-97A8-2A5E319E4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78FE-BEBD-4186-BA76-F3A9FEAA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41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75C73D-27B6-405C-BEEB-D22470C649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D3680-4997-44B2-A8E1-C80B375F9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A8AD4-3189-4AE1-9D27-5B14376C6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79A2-1A43-4B2F-B6B0-112B2EBDDB5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2692B-6E09-48FF-9728-710EFAA1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15120-73B4-4D9A-94C8-98778FE3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78FE-BEBD-4186-BA76-F3A9FEAA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12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with Image - Opt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5DCE8E-F842-6AC7-6D24-2A9BB50E1F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184933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CAD2F48-5808-CCD7-C9E1-17B48E9069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9" b="299"/>
          <a:stretch/>
        </p:blipFill>
        <p:spPr>
          <a:xfrm>
            <a:off x="0" y="6403538"/>
            <a:ext cx="12192000" cy="4544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2268000"/>
            <a:ext cx="5540401" cy="3947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Month DD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D8F28C-E404-44CF-9F42-4614D03DA8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5540401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D40A1F-529E-1066-9D9A-333468BDE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6184933" y="226800"/>
            <a:ext cx="5821067" cy="5943600"/>
          </a:xfrm>
          <a:solidFill>
            <a:schemeClr val="bg2"/>
          </a:solidFill>
        </p:spPr>
        <p:txBody>
          <a:bodyPr anchor="ctr"/>
          <a:lstStyle>
            <a:lvl1pPr algn="ctr">
              <a:defRPr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CDBA17-0486-7615-338E-FDC04999F70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© 2026 TM Forum</a:t>
            </a:r>
          </a:p>
        </p:txBody>
      </p:sp>
    </p:spTree>
    <p:extLst>
      <p:ext uri="{BB962C8B-B14F-4D97-AF65-F5344CB8AC3E}">
        <p14:creationId xmlns:p14="http://schemas.microsoft.com/office/powerpoint/2010/main" val="2961273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53AFDD-AD3D-4D25-8C3C-5DA4BA6BC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7BEE0-CD9E-4A7B-A48A-9D170B6A6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964DA-124B-4C33-926A-639574AD4A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179A2-1A43-4B2F-B6B0-112B2EBDDB5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9BA0-825C-45B7-85EB-5AC121827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C359F-3519-45E7-82D1-70D3A7F063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478FE-BEBD-4186-BA76-F3A9FEAA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14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sv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17" Type="http://schemas.openxmlformats.org/officeDocument/2006/relationships/image" Target="../media/image17.png"/><Relationship Id="rId25" Type="http://schemas.openxmlformats.org/officeDocument/2006/relationships/image" Target="../media/image25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24" Type="http://schemas.openxmlformats.org/officeDocument/2006/relationships/image" Target="../media/image24.sv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1DB18464-099F-4F41-A106-E4F1A7F72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485" y="1962238"/>
            <a:ext cx="3816281" cy="2544187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785361" y="526653"/>
            <a:ext cx="4614530" cy="1871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400" dirty="0">
                <a:solidFill>
                  <a:schemeClr val="bg1"/>
                </a:solidFill>
                <a:latin typeface="+mj-lt"/>
                <a:ea typeface="Montserrat Bold"/>
                <a:cs typeface="Montserrat Bold"/>
                <a:sym typeface="Montserrat Bold"/>
              </a:rPr>
              <a:t>Agent Fabric</a:t>
            </a:r>
          </a:p>
          <a:p>
            <a:pPr algn="ctr">
              <a:lnSpc>
                <a:spcPts val="5000"/>
              </a:lnSpc>
            </a:pPr>
            <a:r>
              <a:rPr lang="en-US" sz="5400" b="1" dirty="0">
                <a:solidFill>
                  <a:schemeClr val="bg1"/>
                </a:solidFill>
                <a:latin typeface="+mj-lt"/>
                <a:ea typeface="Montserrat Bold"/>
                <a:cs typeface="Montserrat Bold"/>
                <a:sym typeface="Montserrat Bold"/>
              </a:rPr>
              <a:t>A2A-T Runtime </a:t>
            </a:r>
          </a:p>
          <a:p>
            <a:pPr algn="ctr">
              <a:lnSpc>
                <a:spcPts val="5000"/>
              </a:lnSpc>
            </a:pPr>
            <a:r>
              <a:rPr lang="en-US" sz="3200" dirty="0">
                <a:solidFill>
                  <a:schemeClr val="bg1"/>
                </a:solidFill>
                <a:latin typeface="+mj-lt"/>
                <a:ea typeface="Montserrat Bold"/>
                <a:cs typeface="Montserrat Bold"/>
                <a:sym typeface="Montserrat Bold"/>
              </a:rPr>
              <a:t>Phase III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83428" y="4640273"/>
            <a:ext cx="4818397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i="1" dirty="0">
                <a:solidFill>
                  <a:schemeClr val="bg1"/>
                </a:solidFill>
              </a:rPr>
              <a:t>Agents that understand telecom. </a:t>
            </a:r>
          </a:p>
          <a:p>
            <a:pPr algn="ctr"/>
            <a:r>
              <a:rPr lang="en-US" sz="2400" i="1" dirty="0">
                <a:solidFill>
                  <a:schemeClr val="bg1"/>
                </a:solidFill>
              </a:rPr>
              <a:t>Trusted autonomy for production.</a:t>
            </a:r>
          </a:p>
        </p:txBody>
      </p:sp>
      <p:sp>
        <p:nvSpPr>
          <p:cNvPr id="44" name="TextBox 12">
            <a:extLst>
              <a:ext uri="{FF2B5EF4-FFF2-40B4-BE49-F238E27FC236}">
                <a16:creationId xmlns:a16="http://schemas.microsoft.com/office/drawing/2014/main" id="{F98340CE-F4B7-7E1E-A7F7-FD043973E0AB}"/>
              </a:ext>
            </a:extLst>
          </p:cNvPr>
          <p:cNvSpPr txBox="1"/>
          <p:nvPr/>
        </p:nvSpPr>
        <p:spPr>
          <a:xfrm>
            <a:off x="2114230" y="4116595"/>
            <a:ext cx="2057400" cy="578983"/>
          </a:xfrm>
          <a:prstGeom prst="rect">
            <a:avLst/>
          </a:prstGeom>
          <a:noFill/>
        </p:spPr>
        <p:txBody>
          <a:bodyPr lIns="33867" tIns="33867" rIns="33867" bIns="33867" rtlCol="0" anchor="ctr"/>
          <a:lstStyle/>
          <a:p>
            <a:pPr algn="ctr">
              <a:lnSpc>
                <a:spcPts val="2800"/>
              </a:lnSpc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Montserrat Bold"/>
                <a:cs typeface="Montserrat Bold"/>
                <a:sym typeface="Montserrat Bold"/>
              </a:rPr>
              <a:t>C26.0.910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0E85FA4-FE30-465A-94AB-B2B826106DE5}"/>
              </a:ext>
            </a:extLst>
          </p:cNvPr>
          <p:cNvGrpSpPr/>
          <p:nvPr/>
        </p:nvGrpSpPr>
        <p:grpSpPr>
          <a:xfrm>
            <a:off x="6504972" y="1004624"/>
            <a:ext cx="5409089" cy="4330952"/>
            <a:chOff x="5889512" y="710813"/>
            <a:chExt cx="6007187" cy="4809837"/>
          </a:xfrm>
        </p:grpSpPr>
        <p:pic>
          <p:nvPicPr>
            <p:cNvPr id="65" name="Picture 8" descr="Amdocs Vector Logo | Free Download - (.SVG + .PNG) format ...">
              <a:extLst>
                <a:ext uri="{FF2B5EF4-FFF2-40B4-BE49-F238E27FC236}">
                  <a16:creationId xmlns:a16="http://schemas.microsoft.com/office/drawing/2014/main" id="{E646EDEC-D256-4AF7-AAE4-33ACF0ADC1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1066" y="4188809"/>
              <a:ext cx="1823954" cy="9997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4" descr="RADCOM">
              <a:extLst>
                <a:ext uri="{FF2B5EF4-FFF2-40B4-BE49-F238E27FC236}">
                  <a16:creationId xmlns:a16="http://schemas.microsoft.com/office/drawing/2014/main" id="{B9B8FAC2-8271-42AF-8913-7D72179A49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53193" y="4136209"/>
              <a:ext cx="1169716" cy="11009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7" name="Freeform 19">
              <a:extLst>
                <a:ext uri="{FF2B5EF4-FFF2-40B4-BE49-F238E27FC236}">
                  <a16:creationId xmlns:a16="http://schemas.microsoft.com/office/drawing/2014/main" id="{AB915188-F5F2-43B0-8B94-1FAD3033612C}"/>
                </a:ext>
              </a:extLst>
            </p:cNvPr>
            <p:cNvSpPr/>
            <p:nvPr/>
          </p:nvSpPr>
          <p:spPr>
            <a:xfrm>
              <a:off x="5979701" y="2323300"/>
              <a:ext cx="1536975" cy="536333"/>
            </a:xfrm>
            <a:custGeom>
              <a:avLst/>
              <a:gdLst/>
              <a:ahLst/>
              <a:cxnLst/>
              <a:rect l="l" t="t" r="r" b="b"/>
              <a:pathLst>
                <a:path w="1476754" h="539015">
                  <a:moveTo>
                    <a:pt x="0" y="0"/>
                  </a:moveTo>
                  <a:lnTo>
                    <a:pt x="1476754" y="0"/>
                  </a:lnTo>
                  <a:lnTo>
                    <a:pt x="1476754" y="539015"/>
                  </a:lnTo>
                  <a:lnTo>
                    <a:pt x="0" y="53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68" name="Freeform 20">
              <a:extLst>
                <a:ext uri="{FF2B5EF4-FFF2-40B4-BE49-F238E27FC236}">
                  <a16:creationId xmlns:a16="http://schemas.microsoft.com/office/drawing/2014/main" id="{3D8AF62F-317D-4053-8151-92B0C0A37DD7}"/>
                </a:ext>
              </a:extLst>
            </p:cNvPr>
            <p:cNvSpPr/>
            <p:nvPr/>
          </p:nvSpPr>
          <p:spPr>
            <a:xfrm>
              <a:off x="10025871" y="3034159"/>
              <a:ext cx="1697038" cy="499128"/>
            </a:xfrm>
            <a:custGeom>
              <a:avLst/>
              <a:gdLst/>
              <a:ahLst/>
              <a:cxnLst/>
              <a:rect l="l" t="t" r="r" b="b"/>
              <a:pathLst>
                <a:path w="1832652" h="539015">
                  <a:moveTo>
                    <a:pt x="0" y="0"/>
                  </a:moveTo>
                  <a:lnTo>
                    <a:pt x="1832652" y="0"/>
                  </a:lnTo>
                  <a:lnTo>
                    <a:pt x="1832652" y="539016"/>
                  </a:lnTo>
                  <a:lnTo>
                    <a:pt x="0" y="539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69" name="Freeform 21">
              <a:extLst>
                <a:ext uri="{FF2B5EF4-FFF2-40B4-BE49-F238E27FC236}">
                  <a16:creationId xmlns:a16="http://schemas.microsoft.com/office/drawing/2014/main" id="{F45A8910-BCED-484A-97AB-EE08C40AE0FD}"/>
                </a:ext>
              </a:extLst>
            </p:cNvPr>
            <p:cNvSpPr/>
            <p:nvPr/>
          </p:nvSpPr>
          <p:spPr>
            <a:xfrm>
              <a:off x="9677964" y="735696"/>
              <a:ext cx="491793" cy="600661"/>
            </a:xfrm>
            <a:custGeom>
              <a:avLst/>
              <a:gdLst/>
              <a:ahLst/>
              <a:cxnLst/>
              <a:rect l="l" t="t" r="r" b="b"/>
              <a:pathLst>
                <a:path w="441319" h="539015">
                  <a:moveTo>
                    <a:pt x="0" y="0"/>
                  </a:moveTo>
                  <a:lnTo>
                    <a:pt x="441319" y="0"/>
                  </a:lnTo>
                  <a:lnTo>
                    <a:pt x="441319" y="539015"/>
                  </a:lnTo>
                  <a:lnTo>
                    <a:pt x="0" y="53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70" name="Freeform 22">
              <a:extLst>
                <a:ext uri="{FF2B5EF4-FFF2-40B4-BE49-F238E27FC236}">
                  <a16:creationId xmlns:a16="http://schemas.microsoft.com/office/drawing/2014/main" id="{4E041FB8-6356-49F0-8651-10220BD4C29B}"/>
                </a:ext>
              </a:extLst>
            </p:cNvPr>
            <p:cNvSpPr/>
            <p:nvPr/>
          </p:nvSpPr>
          <p:spPr>
            <a:xfrm>
              <a:off x="5979701" y="2921526"/>
              <a:ext cx="635144" cy="634559"/>
            </a:xfrm>
            <a:custGeom>
              <a:avLst/>
              <a:gdLst/>
              <a:ahLst/>
              <a:cxnLst/>
              <a:rect l="l" t="t" r="r" b="b"/>
              <a:pathLst>
                <a:path w="539511" h="539015">
                  <a:moveTo>
                    <a:pt x="0" y="0"/>
                  </a:moveTo>
                  <a:lnTo>
                    <a:pt x="539511" y="0"/>
                  </a:lnTo>
                  <a:lnTo>
                    <a:pt x="539511" y="539015"/>
                  </a:lnTo>
                  <a:lnTo>
                    <a:pt x="0" y="53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71" name="Freeform 23">
              <a:extLst>
                <a:ext uri="{FF2B5EF4-FFF2-40B4-BE49-F238E27FC236}">
                  <a16:creationId xmlns:a16="http://schemas.microsoft.com/office/drawing/2014/main" id="{9CBE9BAA-534D-4886-BDDB-09D954DF9261}"/>
                </a:ext>
              </a:extLst>
            </p:cNvPr>
            <p:cNvSpPr/>
            <p:nvPr/>
          </p:nvSpPr>
          <p:spPr>
            <a:xfrm>
              <a:off x="8212061" y="2302699"/>
              <a:ext cx="1560263" cy="574476"/>
            </a:xfrm>
            <a:custGeom>
              <a:avLst/>
              <a:gdLst/>
              <a:ahLst/>
              <a:cxnLst/>
              <a:rect l="l" t="t" r="r" b="b"/>
              <a:pathLst>
                <a:path w="1529121" h="539015">
                  <a:moveTo>
                    <a:pt x="0" y="0"/>
                  </a:moveTo>
                  <a:lnTo>
                    <a:pt x="1529121" y="0"/>
                  </a:lnTo>
                  <a:lnTo>
                    <a:pt x="1529121" y="539015"/>
                  </a:lnTo>
                  <a:lnTo>
                    <a:pt x="0" y="53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72" name="Freeform 24">
              <a:extLst>
                <a:ext uri="{FF2B5EF4-FFF2-40B4-BE49-F238E27FC236}">
                  <a16:creationId xmlns:a16="http://schemas.microsoft.com/office/drawing/2014/main" id="{F132B651-326E-4EE2-BA7B-544CE59C071E}"/>
                </a:ext>
              </a:extLst>
            </p:cNvPr>
            <p:cNvSpPr/>
            <p:nvPr/>
          </p:nvSpPr>
          <p:spPr>
            <a:xfrm>
              <a:off x="5979701" y="710813"/>
              <a:ext cx="684325" cy="684325"/>
            </a:xfrm>
            <a:custGeom>
              <a:avLst/>
              <a:gdLst/>
              <a:ahLst/>
              <a:cxnLst/>
              <a:rect l="l" t="t" r="r" b="b"/>
              <a:pathLst>
                <a:path w="736902" h="736902">
                  <a:moveTo>
                    <a:pt x="0" y="0"/>
                  </a:moveTo>
                  <a:lnTo>
                    <a:pt x="736902" y="0"/>
                  </a:lnTo>
                  <a:lnTo>
                    <a:pt x="736902" y="736901"/>
                  </a:lnTo>
                  <a:lnTo>
                    <a:pt x="0" y="736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73" name="Freeform 25">
              <a:extLst>
                <a:ext uri="{FF2B5EF4-FFF2-40B4-BE49-F238E27FC236}">
                  <a16:creationId xmlns:a16="http://schemas.microsoft.com/office/drawing/2014/main" id="{07D6BA8B-C4C3-4FB3-BC32-F981A1743CAC}"/>
                </a:ext>
              </a:extLst>
            </p:cNvPr>
            <p:cNvSpPr/>
            <p:nvPr/>
          </p:nvSpPr>
          <p:spPr>
            <a:xfrm>
              <a:off x="5889512" y="1592845"/>
              <a:ext cx="1887170" cy="634559"/>
            </a:xfrm>
            <a:custGeom>
              <a:avLst/>
              <a:gdLst/>
              <a:ahLst/>
              <a:cxnLst/>
              <a:rect l="l" t="t" r="r" b="b"/>
              <a:pathLst>
                <a:path w="1603020" h="539015">
                  <a:moveTo>
                    <a:pt x="0" y="0"/>
                  </a:moveTo>
                  <a:lnTo>
                    <a:pt x="1603020" y="0"/>
                  </a:lnTo>
                  <a:lnTo>
                    <a:pt x="1603020" y="539016"/>
                  </a:lnTo>
                  <a:lnTo>
                    <a:pt x="0" y="539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74" name="Freeform 26">
              <a:extLst>
                <a:ext uri="{FF2B5EF4-FFF2-40B4-BE49-F238E27FC236}">
                  <a16:creationId xmlns:a16="http://schemas.microsoft.com/office/drawing/2014/main" id="{851CE717-7EAC-4E48-8489-10A70ACBA1BA}"/>
                </a:ext>
              </a:extLst>
            </p:cNvPr>
            <p:cNvSpPr/>
            <p:nvPr/>
          </p:nvSpPr>
          <p:spPr>
            <a:xfrm>
              <a:off x="7433510" y="833661"/>
              <a:ext cx="1648880" cy="438628"/>
            </a:xfrm>
            <a:custGeom>
              <a:avLst/>
              <a:gdLst/>
              <a:ahLst/>
              <a:cxnLst/>
              <a:rect l="l" t="t" r="r" b="b"/>
              <a:pathLst>
                <a:path w="1874138" h="498550">
                  <a:moveTo>
                    <a:pt x="0" y="0"/>
                  </a:moveTo>
                  <a:lnTo>
                    <a:pt x="1874138" y="0"/>
                  </a:lnTo>
                  <a:lnTo>
                    <a:pt x="1874138" y="498549"/>
                  </a:lnTo>
                  <a:lnTo>
                    <a:pt x="0" y="498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C1BA735A-B76D-41DC-AA25-0CD8DA598B20}"/>
                </a:ext>
              </a:extLst>
            </p:cNvPr>
            <p:cNvSpPr/>
            <p:nvPr/>
          </p:nvSpPr>
          <p:spPr>
            <a:xfrm>
              <a:off x="10185935" y="1634541"/>
              <a:ext cx="1477208" cy="515477"/>
            </a:xfrm>
            <a:custGeom>
              <a:avLst/>
              <a:gdLst/>
              <a:ahLst/>
              <a:cxnLst/>
              <a:rect l="l" t="t" r="r" b="b"/>
              <a:pathLst>
                <a:path w="1711895" h="650109">
                  <a:moveTo>
                    <a:pt x="0" y="0"/>
                  </a:moveTo>
                  <a:lnTo>
                    <a:pt x="1711896" y="0"/>
                  </a:lnTo>
                  <a:lnTo>
                    <a:pt x="1711896" y="650109"/>
                  </a:lnTo>
                  <a:lnTo>
                    <a:pt x="0" y="650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76" name="Freeform 28">
              <a:extLst>
                <a:ext uri="{FF2B5EF4-FFF2-40B4-BE49-F238E27FC236}">
                  <a16:creationId xmlns:a16="http://schemas.microsoft.com/office/drawing/2014/main" id="{88669F09-3811-4ED4-84AB-2F692CF6AAE0}"/>
                </a:ext>
              </a:extLst>
            </p:cNvPr>
            <p:cNvSpPr/>
            <p:nvPr/>
          </p:nvSpPr>
          <p:spPr>
            <a:xfrm>
              <a:off x="10995621" y="735696"/>
              <a:ext cx="727288" cy="634559"/>
            </a:xfrm>
            <a:custGeom>
              <a:avLst/>
              <a:gdLst/>
              <a:ahLst/>
              <a:cxnLst/>
              <a:rect l="l" t="t" r="r" b="b"/>
              <a:pathLst>
                <a:path w="781181" h="681580">
                  <a:moveTo>
                    <a:pt x="0" y="0"/>
                  </a:moveTo>
                  <a:lnTo>
                    <a:pt x="781180" y="0"/>
                  </a:lnTo>
                  <a:lnTo>
                    <a:pt x="781180" y="681581"/>
                  </a:lnTo>
                  <a:lnTo>
                    <a:pt x="0" y="681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pic>
          <p:nvPicPr>
            <p:cNvPr id="77" name="Picture 6" descr="Mtn New Logo Vector Logo - Download Free SVG Icon ...">
              <a:extLst>
                <a:ext uri="{FF2B5EF4-FFF2-40B4-BE49-F238E27FC236}">
                  <a16:creationId xmlns:a16="http://schemas.microsoft.com/office/drawing/2014/main" id="{0AEBF2B8-5869-4EE5-B9B9-743F91BB9E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9701" y="3656990"/>
              <a:ext cx="720311" cy="6345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8" name="Picture 4" descr="Home">
              <a:extLst>
                <a:ext uri="{FF2B5EF4-FFF2-40B4-BE49-F238E27FC236}">
                  <a16:creationId xmlns:a16="http://schemas.microsoft.com/office/drawing/2014/main" id="{57F5976E-D5F2-46B5-AF98-7D8981D907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64467" y="1991879"/>
              <a:ext cx="1832232" cy="12214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Freeform 31">
              <a:extLst>
                <a:ext uri="{FF2B5EF4-FFF2-40B4-BE49-F238E27FC236}">
                  <a16:creationId xmlns:a16="http://schemas.microsoft.com/office/drawing/2014/main" id="{25BD2DAA-D988-475F-86E5-BB98FF2F45B4}"/>
                </a:ext>
              </a:extLst>
            </p:cNvPr>
            <p:cNvSpPr/>
            <p:nvPr/>
          </p:nvSpPr>
          <p:spPr>
            <a:xfrm>
              <a:off x="5979701" y="4477568"/>
              <a:ext cx="1941840" cy="418192"/>
            </a:xfrm>
            <a:custGeom>
              <a:avLst/>
              <a:gdLst/>
              <a:ahLst/>
              <a:cxnLst/>
              <a:rect l="l" t="t" r="r" b="b"/>
              <a:pathLst>
                <a:path w="2117083" h="463112">
                  <a:moveTo>
                    <a:pt x="0" y="0"/>
                  </a:moveTo>
                  <a:lnTo>
                    <a:pt x="2117083" y="0"/>
                  </a:lnTo>
                  <a:lnTo>
                    <a:pt x="2117083" y="463112"/>
                  </a:lnTo>
                  <a:lnTo>
                    <a:pt x="0" y="463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80" name="Freeform 32">
              <a:extLst>
                <a:ext uri="{FF2B5EF4-FFF2-40B4-BE49-F238E27FC236}">
                  <a16:creationId xmlns:a16="http://schemas.microsoft.com/office/drawing/2014/main" id="{70EC476E-52BE-48C8-BB5F-D0D648B5C848}"/>
                </a:ext>
              </a:extLst>
            </p:cNvPr>
            <p:cNvSpPr/>
            <p:nvPr/>
          </p:nvSpPr>
          <p:spPr>
            <a:xfrm>
              <a:off x="5979701" y="5132026"/>
              <a:ext cx="971562" cy="388624"/>
            </a:xfrm>
            <a:custGeom>
              <a:avLst/>
              <a:gdLst/>
              <a:ahLst/>
              <a:cxnLst/>
              <a:rect l="l" t="t" r="r" b="b"/>
              <a:pathLst>
                <a:path w="1157780" h="463112">
                  <a:moveTo>
                    <a:pt x="0" y="0"/>
                  </a:moveTo>
                  <a:lnTo>
                    <a:pt x="1157780" y="0"/>
                  </a:lnTo>
                  <a:lnTo>
                    <a:pt x="1157780" y="463112"/>
                  </a:lnTo>
                  <a:lnTo>
                    <a:pt x="0" y="463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81" name="Freeform 35">
              <a:extLst>
                <a:ext uri="{FF2B5EF4-FFF2-40B4-BE49-F238E27FC236}">
                  <a16:creationId xmlns:a16="http://schemas.microsoft.com/office/drawing/2014/main" id="{12F57822-CC6F-4609-9FAC-DC6AAC734C73}"/>
                </a:ext>
              </a:extLst>
            </p:cNvPr>
            <p:cNvSpPr/>
            <p:nvPr/>
          </p:nvSpPr>
          <p:spPr>
            <a:xfrm>
              <a:off x="7597275" y="5123921"/>
              <a:ext cx="1157131" cy="319657"/>
            </a:xfrm>
            <a:custGeom>
              <a:avLst/>
              <a:gdLst/>
              <a:ahLst/>
              <a:cxnLst/>
              <a:rect l="l" t="t" r="r" b="b"/>
              <a:pathLst>
                <a:path w="1676423" h="463112">
                  <a:moveTo>
                    <a:pt x="0" y="0"/>
                  </a:moveTo>
                  <a:lnTo>
                    <a:pt x="1676424" y="0"/>
                  </a:lnTo>
                  <a:lnTo>
                    <a:pt x="1676424" y="463112"/>
                  </a:lnTo>
                  <a:lnTo>
                    <a:pt x="0" y="463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pic>
          <p:nvPicPr>
            <p:cNvPr id="82" name="Picture 81" descr="Iquall Networks">
              <a:extLst>
                <a:ext uri="{FF2B5EF4-FFF2-40B4-BE49-F238E27FC236}">
                  <a16:creationId xmlns:a16="http://schemas.microsoft.com/office/drawing/2014/main" id="{165FA548-D8D7-491F-AA81-3F1E65F22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8" y="5098303"/>
              <a:ext cx="2428381" cy="3496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Graphic 82">
              <a:extLst>
                <a:ext uri="{FF2B5EF4-FFF2-40B4-BE49-F238E27FC236}">
                  <a16:creationId xmlns:a16="http://schemas.microsoft.com/office/drawing/2014/main" id="{6021B7F6-C80A-47D2-8FCF-6D812AE2A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9028147" y="1718312"/>
              <a:ext cx="1066500" cy="368790"/>
            </a:xfrm>
            <a:prstGeom prst="rect">
              <a:avLst/>
            </a:prstGeom>
          </p:spPr>
        </p:pic>
        <p:pic>
          <p:nvPicPr>
            <p:cNvPr id="84" name="Picture 2" descr="AIOps autonomous service assurance – TM ...">
              <a:extLst>
                <a:ext uri="{FF2B5EF4-FFF2-40B4-BE49-F238E27FC236}">
                  <a16:creationId xmlns:a16="http://schemas.microsoft.com/office/drawing/2014/main" id="{D3B5B504-152F-420E-90B8-005AF783DF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7857" y="3016006"/>
              <a:ext cx="1620849" cy="519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" name="Picture 2" descr="File:Logótipo da NOS.png - Wikimedia Commons">
              <a:extLst>
                <a:ext uri="{FF2B5EF4-FFF2-40B4-BE49-F238E27FC236}">
                  <a16:creationId xmlns:a16="http://schemas.microsoft.com/office/drawing/2014/main" id="{5DC78A46-207E-4DE6-A598-D41BC45830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5941" y="1625068"/>
              <a:ext cx="1013004" cy="555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" name="Picture 6" descr="stc Group - Wikipedia">
              <a:extLst>
                <a:ext uri="{FF2B5EF4-FFF2-40B4-BE49-F238E27FC236}">
                  <a16:creationId xmlns:a16="http://schemas.microsoft.com/office/drawing/2014/main" id="{174669EB-10F8-4056-BAD5-5BBE38A432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7583" y="3739839"/>
              <a:ext cx="919232" cy="503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" name="Picture 12" descr="Visual identity | Università degli Studi di Milano Statale">
              <a:extLst>
                <a:ext uri="{FF2B5EF4-FFF2-40B4-BE49-F238E27FC236}">
                  <a16:creationId xmlns:a16="http://schemas.microsoft.com/office/drawing/2014/main" id="{E5A90BA0-3EEB-433A-ACD7-89F884E7BD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25622" y="3724191"/>
              <a:ext cx="1597287" cy="5351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2" descr="Globe Telecom Logo, symbol, meaning, history, PNG, brand">
              <a:extLst>
                <a:ext uri="{FF2B5EF4-FFF2-40B4-BE49-F238E27FC236}">
                  <a16:creationId xmlns:a16="http://schemas.microsoft.com/office/drawing/2014/main" id="{1E66B640-7FDC-4721-8136-582931D6E6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9042" y="3605690"/>
              <a:ext cx="1382609" cy="7721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9" name="AutoShape 2" descr="Home">
              <a:extLst>
                <a:ext uri="{FF2B5EF4-FFF2-40B4-BE49-F238E27FC236}">
                  <a16:creationId xmlns:a16="http://schemas.microsoft.com/office/drawing/2014/main" id="{58B20BED-6B51-4335-B99D-64EF4504CD3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766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68801504154C4F9E8BF4E56E76FBC1" ma:contentTypeVersion="11" ma:contentTypeDescription="Create a new document." ma:contentTypeScope="" ma:versionID="997597acb64a503e189faf38d7319683">
  <xsd:schema xmlns:xsd="http://www.w3.org/2001/XMLSchema" xmlns:xs="http://www.w3.org/2001/XMLSchema" xmlns:p="http://schemas.microsoft.com/office/2006/metadata/properties" xmlns:ns2="94008fd3-b537-4411-a89b-cf5b12e655aa" xmlns:ns3="50a2e15d-c978-461f-9009-db73363369d6" targetNamespace="http://schemas.microsoft.com/office/2006/metadata/properties" ma:root="true" ma:fieldsID="b577a486f710de21fd9d90451b32db53" ns2:_="" ns3:_="">
    <xsd:import namespace="94008fd3-b537-4411-a89b-cf5b12e655aa"/>
    <xsd:import namespace="50a2e15d-c978-461f-9009-db73363369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008fd3-b537-4411-a89b-cf5b12e655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6c21206-e962-4e70-b7c6-9737299e2fc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a2e15d-c978-461f-9009-db73363369d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61e7a08-8203-457c-9ed7-f5fd7b376889}" ma:internalName="TaxCatchAll" ma:showField="CatchAllData" ma:web="50a2e15d-c978-461f-9009-db73363369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4008fd3-b537-4411-a89b-cf5b12e655aa">
      <Terms xmlns="http://schemas.microsoft.com/office/infopath/2007/PartnerControls"/>
    </lcf76f155ced4ddcb4097134ff3c332f>
    <TaxCatchAll xmlns="50a2e15d-c978-461f-9009-db73363369d6" xsi:nil="true"/>
  </documentManagement>
</p:properties>
</file>

<file path=customXml/itemProps1.xml><?xml version="1.0" encoding="utf-8"?>
<ds:datastoreItem xmlns:ds="http://schemas.openxmlformats.org/officeDocument/2006/customXml" ds:itemID="{61641760-5203-4326-B51A-7848A7D09C1A}"/>
</file>

<file path=customXml/itemProps2.xml><?xml version="1.0" encoding="utf-8"?>
<ds:datastoreItem xmlns:ds="http://schemas.openxmlformats.org/officeDocument/2006/customXml" ds:itemID="{4984A18B-B1C6-4B68-A182-5D082FE5EE5A}"/>
</file>

<file path=customXml/itemProps3.xml><?xml version="1.0" encoding="utf-8"?>
<ds:datastoreItem xmlns:ds="http://schemas.openxmlformats.org/officeDocument/2006/customXml" ds:itemID="{C18FC6ED-3E73-4DFB-A98A-1A709B8261C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Light</vt:lpstr>
      <vt:lpstr>Arial</vt:lpstr>
      <vt:lpstr>Calibri</vt:lpstr>
      <vt:lpstr>Calibri Light</vt:lpstr>
      <vt:lpstr>Montserrat 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McDonnell</dc:creator>
  <cp:lastModifiedBy>Kevin McDonnell</cp:lastModifiedBy>
  <cp:revision>1</cp:revision>
  <dcterms:created xsi:type="dcterms:W3CDTF">2026-04-01T09:58:58Z</dcterms:created>
  <dcterms:modified xsi:type="dcterms:W3CDTF">2026-04-01T09:59:52Z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0x0101009468801504154C4F9E8BF4E56E76FBC1</vt:lpwstr>
  </property>
</Properties>
</file>