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147483228" r:id="rId5"/>
    <p:sldId id="258" r:id="rId6"/>
    <p:sldId id="259" r:id="rId7"/>
    <p:sldId id="260" r:id="rId8"/>
    <p:sldId id="284" r:id="rId9"/>
    <p:sldId id="261" r:id="rId10"/>
    <p:sldId id="262" r:id="rId11"/>
    <p:sldId id="2147483226" r:id="rId12"/>
    <p:sldId id="256" r:id="rId13"/>
    <p:sldId id="264" r:id="rId14"/>
    <p:sldId id="2147483229" r:id="rId15"/>
    <p:sldId id="265" r:id="rId16"/>
    <p:sldId id="266" r:id="rId17"/>
    <p:sldId id="269" r:id="rId18"/>
    <p:sldId id="270" r:id="rId19"/>
    <p:sldId id="271" r:id="rId20"/>
    <p:sldId id="2147483230" r:id="rId21"/>
    <p:sldId id="25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005D"/>
    <a:srgbClr val="FE7CBF"/>
    <a:srgbClr val="858DA2"/>
    <a:srgbClr val="CADCFC"/>
    <a:srgbClr val="01091E"/>
    <a:srgbClr val="152554"/>
    <a:srgbClr val="BCBFD2"/>
    <a:srgbClr val="466AAC"/>
    <a:srgbClr val="F0F4F8"/>
    <a:srgbClr val="99B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E30AA-8FDA-4A70-945F-AFEFA1929F70}" v="3" dt="2026-06-10T07:02:00.990"/>
    <p1510:client id="{D8C5D51C-28AC-C2A2-1F36-D57A30E664AE}" v="98" dt="2026-06-10T06:16:25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 NAJJARY Taoufik INNOV/NET" userId="72518fc5-7614-446c-bc61-38fd529c5172" providerId="ADAL" clId="{E15D0230-22E0-4DA8-B31C-32061AEADF9C}"/>
    <pc:docChg chg="custSel mod modSld modMainMaster">
      <pc:chgData name="EN NAJJARY Taoufik INNOV/NET" userId="72518fc5-7614-446c-bc61-38fd529c5172" providerId="ADAL" clId="{E15D0230-22E0-4DA8-B31C-32061AEADF9C}" dt="2026-06-10T07:02:00.990" v="2" actId="33475"/>
      <pc:docMkLst>
        <pc:docMk/>
      </pc:docMkLst>
      <pc:sldChg chg="modSp mod">
        <pc:chgData name="EN NAJJARY Taoufik INNOV/NET" userId="72518fc5-7614-446c-bc61-38fd529c5172" providerId="ADAL" clId="{E15D0230-22E0-4DA8-B31C-32061AEADF9C}" dt="2026-06-10T07:01:58.832" v="0" actId="27636"/>
        <pc:sldMkLst>
          <pc:docMk/>
          <pc:sldMk cId="4165508712" sldId="284"/>
        </pc:sldMkLst>
        <pc:spChg chg="mod">
          <ac:chgData name="EN NAJJARY Taoufik INNOV/NET" userId="72518fc5-7614-446c-bc61-38fd529c5172" providerId="ADAL" clId="{E15D0230-22E0-4DA8-B31C-32061AEADF9C}" dt="2026-06-10T07:01:58.832" v="0" actId="27636"/>
          <ac:spMkLst>
            <pc:docMk/>
            <pc:sldMk cId="4165508712" sldId="284"/>
            <ac:spMk id="35" creationId="{644E497E-FF94-469E-A156-CE28596CE9FD}"/>
          </ac:spMkLst>
        </pc:spChg>
      </pc:sldChg>
      <pc:sldMasterChg chg="addSp mod">
        <pc:chgData name="EN NAJJARY Taoufik INNOV/NET" userId="72518fc5-7614-446c-bc61-38fd529c5172" providerId="ADAL" clId="{E15D0230-22E0-4DA8-B31C-32061AEADF9C}" dt="2026-06-10T07:02:00.986" v="1" actId="33475"/>
        <pc:sldMasterMkLst>
          <pc:docMk/>
          <pc:sldMasterMk cId="0" sldId="2147483648"/>
        </pc:sldMasterMkLst>
        <pc:spChg chg="add">
          <ac:chgData name="EN NAJJARY Taoufik INNOV/NET" userId="72518fc5-7614-446c-bc61-38fd529c5172" providerId="ADAL" clId="{E15D0230-22E0-4DA8-B31C-32061AEADF9C}" dt="2026-06-10T07:02:00.986" v="1" actId="33475"/>
          <ac:spMkLst>
            <pc:docMk/>
            <pc:sldMasterMk cId="0" sldId="2147483648"/>
            <ac:spMk id="3" creationId="{C6C30BD1-F36F-4712-6F8C-FB185D56FB98}"/>
          </ac:spMkLst>
        </pc:spChg>
      </pc:sldMasterChg>
    </pc:docChg>
  </pc:docChgLst>
  <pc:docChgLst>
    <pc:chgData name="Sergej V. Polovnikov" userId="S::sergiy.polovnikov_mef.dev#ext#@tmf365.onmicrosoft.com::2e3c8eae-5a7f-4437-affe-ff907afb6f2a" providerId="AD" clId="Web-{D8C5D51C-28AC-C2A2-1F36-D57A30E664AE}"/>
    <pc:docChg chg="modSld">
      <pc:chgData name="Sergej V. Polovnikov" userId="S::sergiy.polovnikov_mef.dev#ext#@tmf365.onmicrosoft.com::2e3c8eae-5a7f-4437-affe-ff907afb6f2a" providerId="AD" clId="Web-{D8C5D51C-28AC-C2A2-1F36-D57A30E664AE}" dt="2026-06-10T06:16:25.983" v="97" actId="1076"/>
      <pc:docMkLst>
        <pc:docMk/>
      </pc:docMkLst>
      <pc:sldChg chg="addSp modSp">
        <pc:chgData name="Sergej V. Polovnikov" userId="S::sergiy.polovnikov_mef.dev#ext#@tmf365.onmicrosoft.com::2e3c8eae-5a7f-4437-affe-ff907afb6f2a" providerId="AD" clId="Web-{D8C5D51C-28AC-C2A2-1F36-D57A30E664AE}" dt="2026-06-10T06:16:25.983" v="97" actId="1076"/>
        <pc:sldMkLst>
          <pc:docMk/>
          <pc:sldMk cId="0" sldId="262"/>
        </pc:sldMkLst>
        <pc:spChg chg="mod">
          <ac:chgData name="Sergej V. Polovnikov" userId="S::sergiy.polovnikov_mef.dev#ext#@tmf365.onmicrosoft.com::2e3c8eae-5a7f-4437-affe-ff907afb6f2a" providerId="AD" clId="Web-{D8C5D51C-28AC-C2A2-1F36-D57A30E664AE}" dt="2026-06-10T06:14:05.978" v="41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666" v="4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681" v="4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713" v="44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728" v="4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744" v="4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775" v="47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791" v="48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822" v="49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838" v="50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869" v="5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884" v="5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916" v="53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931" v="54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947" v="55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5.978" v="56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6.009" v="57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6:21.686" v="96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6:25.983" v="97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6.103" v="60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ergej V. Polovnikov" userId="S::sergiy.polovnikov_mef.dev#ext#@tmf365.onmicrosoft.com::2e3c8eae-5a7f-4437-affe-ff907afb6f2a" providerId="AD" clId="Web-{D8C5D51C-28AC-C2A2-1F36-D57A30E664AE}" dt="2026-06-10T06:14:16.119" v="61" actId="1076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Sergej V. Polovnikov" userId="S::sergiy.polovnikov_mef.dev#ext#@tmf365.onmicrosoft.com::2e3c8eae-5a7f-4437-affe-ff907afb6f2a" providerId="AD" clId="Web-{D8C5D51C-28AC-C2A2-1F36-D57A30E664AE}" dt="2026-06-10T06:14:31.948" v="64" actId="1076"/>
          <ac:spMkLst>
            <pc:docMk/>
            <pc:sldMk cId="0" sldId="262"/>
            <ac:spMk id="47" creationId="{9A531B49-ED4E-801F-1CD0-D7000D899843}"/>
          </ac:spMkLst>
        </pc:spChg>
        <pc:spChg chg="add mod">
          <ac:chgData name="Sergej V. Polovnikov" userId="S::sergiy.polovnikov_mef.dev#ext#@tmf365.onmicrosoft.com::2e3c8eae-5a7f-4437-affe-ff907afb6f2a" providerId="AD" clId="Web-{D8C5D51C-28AC-C2A2-1F36-D57A30E664AE}" dt="2026-06-10T06:16:01.889" v="94" actId="20577"/>
          <ac:spMkLst>
            <pc:docMk/>
            <pc:sldMk cId="0" sldId="262"/>
            <ac:spMk id="48" creationId="{1B99FF25-B831-B559-A66B-A529ECD96A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14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911B-22E9-4B57-A120-B7590DCD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CEC0B0-27FC-4342-A1B9-6035335C00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272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349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with Image - Op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5DCE8E-F842-6AC7-6D24-2A9BB50E1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638700" cy="5143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D2F48-5808-CCD7-C9E1-17B48E9069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4802653"/>
            <a:ext cx="9144000" cy="3408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314100" y="1701000"/>
            <a:ext cx="4155301" cy="29605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Month DD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314100" y="211951"/>
            <a:ext cx="4155301" cy="769499"/>
          </a:xfrm>
        </p:spPr>
        <p:txBody>
          <a:bodyPr/>
          <a:lstStyle>
            <a:lvl1pPr>
              <a:lnSpc>
                <a:spcPts val="2250"/>
              </a:lnSpc>
              <a:spcAft>
                <a:spcPts val="0"/>
              </a:spcAft>
              <a:defRPr sz="21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100"/>
              </a:lnSpc>
              <a:spcAft>
                <a:spcPts val="0"/>
              </a:spcAft>
              <a:buNone/>
              <a:defRPr sz="195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638700" y="170100"/>
            <a:ext cx="4365800" cy="44577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BA17-0486-7615-338E-FDC04999F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8527" y="4904184"/>
            <a:ext cx="1473273" cy="1777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9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366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6C30BD1-F36F-4712-6F8C-FB185D56FB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17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16.svg"/><Relationship Id="rId5" Type="http://schemas.openxmlformats.org/officeDocument/2006/relationships/image" Target="../media/image15.png"/><Relationship Id="rId15" Type="http://schemas.openxmlformats.org/officeDocument/2006/relationships/image" Target="../media/image12.png"/><Relationship Id="rId10" Type="http://schemas.openxmlformats.org/officeDocument/2006/relationships/image" Target="../media/image37.png"/><Relationship Id="rId4" Type="http://schemas.microsoft.com/office/2007/relationships/hdphoto" Target="../media/hdphoto1.wdp"/><Relationship Id="rId9" Type="http://schemas.openxmlformats.org/officeDocument/2006/relationships/image" Target="../media/image36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">
            <a:extLst>
              <a:ext uri="{FF2B5EF4-FFF2-40B4-BE49-F238E27FC236}">
                <a16:creationId xmlns:a16="http://schemas.microsoft.com/office/drawing/2014/main" id="{361FBA52-1BDF-4BE8-AAFC-D11702C9C7B1}"/>
              </a:ext>
            </a:extLst>
          </p:cNvPr>
          <p:cNvSpPr/>
          <p:nvPr/>
        </p:nvSpPr>
        <p:spPr>
          <a:xfrm>
            <a:off x="0" y="3412"/>
            <a:ext cx="9144000" cy="4804012"/>
          </a:xfrm>
          <a:prstGeom prst="rect">
            <a:avLst/>
          </a:prstGeom>
          <a:solidFill>
            <a:srgbClr val="152554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A4866538-E224-4134-AC5F-CEE201FA05D8}"/>
              </a:ext>
            </a:extLst>
          </p:cNvPr>
          <p:cNvSpPr/>
          <p:nvPr/>
        </p:nvSpPr>
        <p:spPr>
          <a:xfrm>
            <a:off x="4602105" y="3412"/>
            <a:ext cx="4541895" cy="4804012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5405F9F-96B8-48FD-8C36-8C888CB36813}"/>
              </a:ext>
            </a:extLst>
          </p:cNvPr>
          <p:cNvSpPr/>
          <p:nvPr/>
        </p:nvSpPr>
        <p:spPr>
          <a:xfrm>
            <a:off x="272956" y="218365"/>
            <a:ext cx="4105166" cy="4453720"/>
          </a:xfrm>
          <a:prstGeom prst="rect">
            <a:avLst/>
          </a:prstGeom>
          <a:solidFill>
            <a:srgbClr val="152554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DB18464-099F-4F41-A106-E4F1A7F727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364" y="1471679"/>
            <a:ext cx="2862211" cy="190814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89021" y="394990"/>
            <a:ext cx="3460898" cy="14213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4050">
                <a:solidFill>
                  <a:srgbClr val="CADCFC"/>
                </a:solidFill>
                <a:latin typeface="+mj-lt"/>
                <a:ea typeface="Montserrat Bold"/>
                <a:cs typeface="Montserrat Bold"/>
                <a:sym typeface="Montserrat Bold"/>
              </a:rPr>
              <a:t>Agent Fabric</a:t>
            </a:r>
          </a:p>
          <a:p>
            <a:pPr algn="ctr">
              <a:lnSpc>
                <a:spcPts val="3750"/>
              </a:lnSpc>
            </a:pPr>
            <a:r>
              <a:rPr lang="en-US" sz="4050" b="1">
                <a:solidFill>
                  <a:srgbClr val="CADCFC"/>
                </a:solidFill>
                <a:latin typeface="+mj-lt"/>
                <a:ea typeface="Montserrat Bold"/>
                <a:cs typeface="Montserrat Bold"/>
                <a:sym typeface="Montserrat Bold"/>
              </a:rPr>
              <a:t>A2A-T Runtime </a:t>
            </a:r>
          </a:p>
          <a:p>
            <a:pPr algn="ctr">
              <a:lnSpc>
                <a:spcPts val="3750"/>
              </a:lnSpc>
            </a:pPr>
            <a:r>
              <a:rPr lang="en-US" sz="2400">
                <a:solidFill>
                  <a:srgbClr val="CADCFC"/>
                </a:solidFill>
                <a:latin typeface="+mj-lt"/>
                <a:ea typeface="Montserrat Bold"/>
                <a:cs typeface="Montserrat Bold"/>
                <a:sym typeface="Montserrat Bold"/>
              </a:rPr>
              <a:t>Phase III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2571" y="3480205"/>
            <a:ext cx="3613798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i="1">
                <a:solidFill>
                  <a:srgbClr val="CADCFC"/>
                </a:solidFill>
              </a:rPr>
              <a:t>Agents that understand telecom.</a:t>
            </a:r>
          </a:p>
          <a:p>
            <a:pPr algn="ctr"/>
            <a:r>
              <a:rPr lang="en-US" i="1">
                <a:solidFill>
                  <a:srgbClr val="CADCFC"/>
                </a:solidFill>
              </a:rPr>
              <a:t>Trusted autonomy for production.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F98340CE-F4B7-7E1E-A7F7-FD043973E0AB}"/>
              </a:ext>
            </a:extLst>
          </p:cNvPr>
          <p:cNvSpPr txBox="1"/>
          <p:nvPr/>
        </p:nvSpPr>
        <p:spPr>
          <a:xfrm>
            <a:off x="1585673" y="3087447"/>
            <a:ext cx="1543050" cy="434237"/>
          </a:xfrm>
          <a:prstGeom prst="rect">
            <a:avLst/>
          </a:prstGeom>
          <a:noFill/>
        </p:spPr>
        <p:txBody>
          <a:bodyPr lIns="25400" tIns="25400" rIns="25400" bIns="25400" rtlCol="0" anchor="ctr"/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CADCFC"/>
                </a:solidFill>
                <a:latin typeface="+mj-lt"/>
                <a:ea typeface="Montserrat Bold"/>
                <a:cs typeface="Montserrat Bold"/>
                <a:sym typeface="Montserrat Bold"/>
              </a:rPr>
              <a:t>C26.0.910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608C85-9FC6-416A-B882-BB4B2060EAB0}"/>
              </a:ext>
            </a:extLst>
          </p:cNvPr>
          <p:cNvGrpSpPr/>
          <p:nvPr/>
        </p:nvGrpSpPr>
        <p:grpSpPr>
          <a:xfrm>
            <a:off x="4880806" y="590686"/>
            <a:ext cx="4015835" cy="3791055"/>
            <a:chOff x="4685092" y="620135"/>
            <a:chExt cx="4015835" cy="3791055"/>
          </a:xfrm>
        </p:grpSpPr>
        <p:pic>
          <p:nvPicPr>
            <p:cNvPr id="65" name="Picture 8" descr="Amdocs Vector Logo | Free Download - (.SVG + .PNG) format ...">
              <a:extLst>
                <a:ext uri="{FF2B5EF4-FFF2-40B4-BE49-F238E27FC236}">
                  <a16:creationId xmlns:a16="http://schemas.microsoft.com/office/drawing/2014/main" id="{E646EDEC-D256-4AF7-AAE4-33ACF0ADC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950" y="3829931"/>
              <a:ext cx="1060404" cy="581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Telecom Italia SpA logo">
              <a:extLst>
                <a:ext uri="{FF2B5EF4-FFF2-40B4-BE49-F238E27FC236}">
                  <a16:creationId xmlns:a16="http://schemas.microsoft.com/office/drawing/2014/main" id="{2A105FEB-5D03-48E5-8FA9-293B47244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6032" y="2435022"/>
              <a:ext cx="914510" cy="580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AB915188-F5F2-43B0-8B94-1FAD303361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85659" y="620135"/>
              <a:ext cx="982651" cy="342900"/>
            </a:xfrm>
            <a:custGeom>
              <a:avLst/>
              <a:gdLst/>
              <a:ahLst/>
              <a:cxnLst/>
              <a:rect l="l" t="t" r="r" b="b"/>
              <a:pathLst>
                <a:path w="1476754" h="539015">
                  <a:moveTo>
                    <a:pt x="0" y="0"/>
                  </a:moveTo>
                  <a:lnTo>
                    <a:pt x="1476754" y="0"/>
                  </a:lnTo>
                  <a:lnTo>
                    <a:pt x="1476754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3D8AF62F-317D-4053-8151-92B0C0A37D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6448" y="1074906"/>
              <a:ext cx="1165863" cy="342900"/>
            </a:xfrm>
            <a:custGeom>
              <a:avLst/>
              <a:gdLst/>
              <a:ahLst/>
              <a:cxnLst/>
              <a:rect l="l" t="t" r="r" b="b"/>
              <a:pathLst>
                <a:path w="1832652" h="539015">
                  <a:moveTo>
                    <a:pt x="0" y="0"/>
                  </a:moveTo>
                  <a:lnTo>
                    <a:pt x="1832652" y="0"/>
                  </a:lnTo>
                  <a:lnTo>
                    <a:pt x="1832652" y="539016"/>
                  </a:lnTo>
                  <a:lnTo>
                    <a:pt x="0" y="53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F45A8910-BCED-484A-97AB-EE08C40AE0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3551" y="1049981"/>
              <a:ext cx="280751" cy="342900"/>
            </a:xfrm>
            <a:custGeom>
              <a:avLst/>
              <a:gdLst/>
              <a:ahLst/>
              <a:cxnLst/>
              <a:rect l="l" t="t" r="r" b="b"/>
              <a:pathLst>
                <a:path w="441319" h="539015">
                  <a:moveTo>
                    <a:pt x="0" y="0"/>
                  </a:moveTo>
                  <a:lnTo>
                    <a:pt x="441319" y="0"/>
                  </a:lnTo>
                  <a:lnTo>
                    <a:pt x="441319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F132B651-326E-4EE2-BA7B-544CE59C0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5929" y="1965762"/>
              <a:ext cx="385388" cy="385388"/>
            </a:xfrm>
            <a:custGeom>
              <a:avLst/>
              <a:gdLst/>
              <a:ahLst/>
              <a:cxnLst/>
              <a:rect l="l" t="t" r="r" b="b"/>
              <a:pathLst>
                <a:path w="736902" h="736902">
                  <a:moveTo>
                    <a:pt x="0" y="0"/>
                  </a:moveTo>
                  <a:lnTo>
                    <a:pt x="736902" y="0"/>
                  </a:lnTo>
                  <a:lnTo>
                    <a:pt x="736902" y="736901"/>
                  </a:lnTo>
                  <a:lnTo>
                    <a:pt x="0" y="736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851CE717-7EAC-4E48-8489-10A70ACBA1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3157" y="2545950"/>
              <a:ext cx="1289021" cy="342900"/>
            </a:xfrm>
            <a:custGeom>
              <a:avLst/>
              <a:gdLst/>
              <a:ahLst/>
              <a:cxnLst/>
              <a:rect l="l" t="t" r="r" b="b"/>
              <a:pathLst>
                <a:path w="1874138" h="498550">
                  <a:moveTo>
                    <a:pt x="0" y="0"/>
                  </a:moveTo>
                  <a:lnTo>
                    <a:pt x="1874138" y="0"/>
                  </a:lnTo>
                  <a:lnTo>
                    <a:pt x="1874138" y="498549"/>
                  </a:lnTo>
                  <a:lnTo>
                    <a:pt x="0" y="498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C1BA735A-B76D-41DC-AA25-0CD8DA598B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4958" y="2533109"/>
              <a:ext cx="982653" cy="342900"/>
            </a:xfrm>
            <a:custGeom>
              <a:avLst/>
              <a:gdLst/>
              <a:ahLst/>
              <a:cxnLst/>
              <a:rect l="l" t="t" r="r" b="b"/>
              <a:pathLst>
                <a:path w="1711895" h="650109">
                  <a:moveTo>
                    <a:pt x="0" y="0"/>
                  </a:moveTo>
                  <a:lnTo>
                    <a:pt x="1711896" y="0"/>
                  </a:lnTo>
                  <a:lnTo>
                    <a:pt x="1711896" y="650109"/>
                  </a:lnTo>
                  <a:lnTo>
                    <a:pt x="0" y="650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88669F09-3811-4ED4-84AB-2F692CF6AA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7023" y="2956930"/>
              <a:ext cx="393008" cy="342900"/>
            </a:xfrm>
            <a:custGeom>
              <a:avLst/>
              <a:gdLst/>
              <a:ahLst/>
              <a:cxnLst/>
              <a:rect l="l" t="t" r="r" b="b"/>
              <a:pathLst>
                <a:path w="781181" h="681580">
                  <a:moveTo>
                    <a:pt x="0" y="0"/>
                  </a:moveTo>
                  <a:lnTo>
                    <a:pt x="781180" y="0"/>
                  </a:lnTo>
                  <a:lnTo>
                    <a:pt x="781180" y="681581"/>
                  </a:lnTo>
                  <a:lnTo>
                    <a:pt x="0" y="681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pic>
          <p:nvPicPr>
            <p:cNvPr id="77" name="Picture 6" descr="Mtn New Logo Vector Logo - Download Free SVG Icon ...">
              <a:extLst>
                <a:ext uri="{FF2B5EF4-FFF2-40B4-BE49-F238E27FC236}">
                  <a16:creationId xmlns:a16="http://schemas.microsoft.com/office/drawing/2014/main" id="{0AEBF2B8-5869-4EE5-B9B9-743F91BB9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2759" y="1485719"/>
              <a:ext cx="408558" cy="359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25BD2DAA-D988-475F-86E5-BB98FF2F45B4}"/>
                </a:ext>
              </a:extLst>
            </p:cNvPr>
            <p:cNvSpPr/>
            <p:nvPr/>
          </p:nvSpPr>
          <p:spPr>
            <a:xfrm>
              <a:off x="4685092" y="3597449"/>
              <a:ext cx="1311377" cy="282416"/>
            </a:xfrm>
            <a:custGeom>
              <a:avLst/>
              <a:gdLst/>
              <a:ahLst/>
              <a:cxnLst/>
              <a:rect l="l" t="t" r="r" b="b"/>
              <a:pathLst>
                <a:path w="2117083" h="463112">
                  <a:moveTo>
                    <a:pt x="0" y="0"/>
                  </a:moveTo>
                  <a:lnTo>
                    <a:pt x="2117083" y="0"/>
                  </a:lnTo>
                  <a:lnTo>
                    <a:pt x="2117083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70EC476E-52BE-48C8-BB5F-D0D648B5C848}"/>
                </a:ext>
              </a:extLst>
            </p:cNvPr>
            <p:cNvSpPr/>
            <p:nvPr/>
          </p:nvSpPr>
          <p:spPr>
            <a:xfrm>
              <a:off x="6114535" y="3607433"/>
              <a:ext cx="656123" cy="262448"/>
            </a:xfrm>
            <a:custGeom>
              <a:avLst/>
              <a:gdLst/>
              <a:ahLst/>
              <a:cxnLst/>
              <a:rect l="l" t="t" r="r" b="b"/>
              <a:pathLst>
                <a:path w="1157780" h="463112">
                  <a:moveTo>
                    <a:pt x="0" y="0"/>
                  </a:moveTo>
                  <a:lnTo>
                    <a:pt x="1157780" y="0"/>
                  </a:lnTo>
                  <a:lnTo>
                    <a:pt x="1157780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12F57822-CC6F-4609-9FAC-DC6AAC734C73}"/>
                </a:ext>
              </a:extLst>
            </p:cNvPr>
            <p:cNvSpPr/>
            <p:nvPr/>
          </p:nvSpPr>
          <p:spPr>
            <a:xfrm>
              <a:off x="7964062" y="3636876"/>
              <a:ext cx="736865" cy="203559"/>
            </a:xfrm>
            <a:custGeom>
              <a:avLst/>
              <a:gdLst/>
              <a:ahLst/>
              <a:cxnLst/>
              <a:rect l="l" t="t" r="r" b="b"/>
              <a:pathLst>
                <a:path w="1676423" h="463112">
                  <a:moveTo>
                    <a:pt x="0" y="0"/>
                  </a:moveTo>
                  <a:lnTo>
                    <a:pt x="1676424" y="0"/>
                  </a:lnTo>
                  <a:lnTo>
                    <a:pt x="1676424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85800">
                <a:defRPr/>
              </a:pPr>
              <a:endParaRPr lang="en-GB" sz="900">
                <a:solidFill>
                  <a:prstClr val="black"/>
                </a:solidFill>
                <a:latin typeface="Aptos"/>
              </a:endParaRPr>
            </a:p>
          </p:txBody>
        </p:sp>
        <p:pic>
          <p:nvPicPr>
            <p:cNvPr id="82" name="Picture 81" descr="Iquall Networks">
              <a:extLst>
                <a:ext uri="{FF2B5EF4-FFF2-40B4-BE49-F238E27FC236}">
                  <a16:creationId xmlns:a16="http://schemas.microsoft.com/office/drawing/2014/main" id="{165FA548-D8D7-491F-AA81-3F1E65F22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6245" y="3948868"/>
              <a:ext cx="1639952" cy="236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6021B7F6-C80A-47D2-8FCF-6D812AE2A31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27516" y="644233"/>
              <a:ext cx="991628" cy="342900"/>
            </a:xfrm>
            <a:prstGeom prst="rect">
              <a:avLst/>
            </a:prstGeom>
          </p:spPr>
        </p:pic>
        <p:pic>
          <p:nvPicPr>
            <p:cNvPr id="84" name="Picture 2" descr="AIOps autonomous service assurance – TM ...">
              <a:extLst>
                <a:ext uri="{FF2B5EF4-FFF2-40B4-BE49-F238E27FC236}">
                  <a16:creationId xmlns:a16="http://schemas.microsoft.com/office/drawing/2014/main" id="{D3B5B504-152F-420E-90B8-005AF783D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9105" y="1546944"/>
              <a:ext cx="1069199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12" descr="Visual identity | Università degli Studi di Milano Statale">
              <a:extLst>
                <a:ext uri="{FF2B5EF4-FFF2-40B4-BE49-F238E27FC236}">
                  <a16:creationId xmlns:a16="http://schemas.microsoft.com/office/drawing/2014/main" id="{E5A90BA0-3EEB-433A-ACD7-89F884E7BD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779" y="2966441"/>
              <a:ext cx="1023427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AutoShape 2" descr="Home">
              <a:extLst>
                <a:ext uri="{FF2B5EF4-FFF2-40B4-BE49-F238E27FC236}">
                  <a16:creationId xmlns:a16="http://schemas.microsoft.com/office/drawing/2014/main" id="{58B20BED-6B51-4335-B99D-64EF4504CD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78778" y="2486214"/>
              <a:ext cx="3429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pic>
          <p:nvPicPr>
            <p:cNvPr id="1028" name="Picture 4" descr="Etisalat UAE logo">
              <a:extLst>
                <a:ext uri="{FF2B5EF4-FFF2-40B4-BE49-F238E27FC236}">
                  <a16:creationId xmlns:a16="http://schemas.microsoft.com/office/drawing/2014/main" id="{7464FABF-5B7A-434D-8B8D-1F68681A9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5308" y="1024512"/>
              <a:ext cx="506009" cy="342900"/>
            </a:xfrm>
            <a:prstGeom prst="rect">
              <a:avLst/>
            </a:prstGeom>
            <a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pic>
        <p:pic>
          <p:nvPicPr>
            <p:cNvPr id="1032" name="Picture 8" descr="NOS Technology Concepção, Construção e Gestão de Redes de Comunicações, S.A. logo">
              <a:extLst>
                <a:ext uri="{FF2B5EF4-FFF2-40B4-BE49-F238E27FC236}">
                  <a16:creationId xmlns:a16="http://schemas.microsoft.com/office/drawing/2014/main" id="{8FF8267F-7404-4559-99C8-7944F6AB2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0461" y="2008250"/>
              <a:ext cx="633046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China Mobile Communications Corporation logo">
              <a:extLst>
                <a:ext uri="{FF2B5EF4-FFF2-40B4-BE49-F238E27FC236}">
                  <a16:creationId xmlns:a16="http://schemas.microsoft.com/office/drawing/2014/main" id="{F7D19282-B968-4021-B4B3-F94D379EF8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4940" y="620135"/>
              <a:ext cx="1096377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 descr="Infovista | TM Forum ODA Component Directory">
              <a:extLst>
                <a:ext uri="{FF2B5EF4-FFF2-40B4-BE49-F238E27FC236}">
                  <a16:creationId xmlns:a16="http://schemas.microsoft.com/office/drawing/2014/main" id="{3B3FB98B-0F4F-4FD1-B400-2F4C3FA7E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0576" y="3917981"/>
              <a:ext cx="1044041" cy="307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Vodafone GmbH logo">
              <a:extLst>
                <a:ext uri="{FF2B5EF4-FFF2-40B4-BE49-F238E27FC236}">
                  <a16:creationId xmlns:a16="http://schemas.microsoft.com/office/drawing/2014/main" id="{180495F8-AC11-4E7C-BACB-9123A8B03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3107" y="2991635"/>
              <a:ext cx="369333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Zain Group - Mobile Telecommunications Company K.S.C.P logo">
              <a:extLst>
                <a:ext uri="{FF2B5EF4-FFF2-40B4-BE49-F238E27FC236}">
                  <a16:creationId xmlns:a16="http://schemas.microsoft.com/office/drawing/2014/main" id="{B097C414-B915-4D46-A082-42DFB6D9F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5442" y="2965104"/>
              <a:ext cx="1285875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Indosat Ooredoo Hutchison logo">
              <a:extLst>
                <a:ext uri="{FF2B5EF4-FFF2-40B4-BE49-F238E27FC236}">
                  <a16:creationId xmlns:a16="http://schemas.microsoft.com/office/drawing/2014/main" id="{EBF1E973-5288-4314-A6FC-500550A17D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5769" y="1527297"/>
              <a:ext cx="983373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27894F1-AB7C-4AC4-99D2-B99B0193E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888724" y="3649380"/>
              <a:ext cx="957272" cy="178553"/>
            </a:xfrm>
            <a:prstGeom prst="rect">
              <a:avLst/>
            </a:prstGeom>
          </p:spPr>
        </p:pic>
        <p:pic>
          <p:nvPicPr>
            <p:cNvPr id="38" name="Picture 2" descr="Ooredoo Group logo">
              <a:extLst>
                <a:ext uri="{FF2B5EF4-FFF2-40B4-BE49-F238E27FC236}">
                  <a16:creationId xmlns:a16="http://schemas.microsoft.com/office/drawing/2014/main" id="{72F5ABF0-30FE-40F2-A141-D2859891A8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7756" y="2043907"/>
              <a:ext cx="1260971" cy="245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59380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is achievable. Keeping it there is the unsolved problem.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27889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50292" cy="2788920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280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ACCURACY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576072" y="151790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share meaning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221284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A2A gives agents a way to talk. Without A2A-T they have no shared telecom meaning when they do. A Task-T issued by one vendor's agent must be interpreted identically by the next — that requires a structured, versioned semantic anchor at the protocol level, not natural language alone.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27889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50292" cy="2788920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1280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EXECUTION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410712" y="151790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deferred is ambiguity compounded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11480" y="2103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10712" y="221284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agentic frameworks defer ambiguity to natural-language clarification at runtime. At carrier scale this produces re-escalation chains and non-deterministic outcomes. Negotiation-T resolves target, feasibility, and information gaps before Task-T commits.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51760" cy="27889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50292" cy="2788920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5352" y="1280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AUTONOMY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6245352" y="151790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without accountability is not deployable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11480" y="2103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221284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L4, agent actions are consequential and may be irreversible. Operators must know what evidence drove a decision, what constraint was honoured, and what authority authorised the action. Without a governance fabric, production L4 stays aspirational.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1428466" y="4114800"/>
            <a:ext cx="7304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Garcia Parra, Director of Autonomous Networks, Telefónica:  </a:t>
            </a:r>
            <a:r>
              <a:rPr lang="en-US" sz="1000" i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unsolved challenge in Autonomous Networks is not building individual agents — it is keeping them working together safely, at scale."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2</a:t>
            </a:fld>
            <a:endParaRPr lang="en-GB" sz="900">
              <a:solidFill>
                <a:srgbClr val="FFFFFF"/>
              </a:solidFill>
            </a:endParaRPr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FC3B12CB-45F3-452B-A137-A88A77B0CFF4}"/>
              </a:ext>
            </a:extLst>
          </p:cNvPr>
          <p:cNvSpPr>
            <a:spLocks noChangeAspect="1"/>
          </p:cNvSpPr>
          <p:nvPr/>
        </p:nvSpPr>
        <p:spPr>
          <a:xfrm>
            <a:off x="411480" y="4232398"/>
            <a:ext cx="929958" cy="247384"/>
          </a:xfrm>
          <a:custGeom>
            <a:avLst/>
            <a:gdLst/>
            <a:ahLst/>
            <a:cxnLst/>
            <a:rect l="l" t="t" r="r" b="b"/>
            <a:pathLst>
              <a:path w="1874138" h="498550">
                <a:moveTo>
                  <a:pt x="0" y="0"/>
                </a:moveTo>
                <a:lnTo>
                  <a:pt x="1874138" y="0"/>
                </a:lnTo>
                <a:lnTo>
                  <a:pt x="1874138" y="498549"/>
                </a:lnTo>
                <a:lnTo>
                  <a:pt x="0" y="49854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85800">
              <a:defRPr/>
            </a:pPr>
            <a:endParaRPr lang="en-GB" sz="90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every operator asks before trusting an agent with the network.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 · Dataiku / Harris Poll 2025 (n=800 data leaders)</a:t>
            </a:r>
            <a:endParaRPr lang="en-US" sz="85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08176"/>
            <a:ext cx="310896" cy="310896"/>
          </a:xfrm>
          <a:prstGeom prst="ellipse">
            <a:avLst/>
          </a:prstGeom>
          <a:solidFill>
            <a:srgbClr val="D1005D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any agent talk to any other?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is bespoke. Every payload is a snowflake.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53212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649224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agents in daily operations — none share a common protocol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411480" y="1901952"/>
            <a:ext cx="8321040" cy="0"/>
          </a:xfrm>
          <a:prstGeom prst="line">
            <a:avLst/>
          </a:prstGeom>
          <a:noFill/>
          <a:ln w="381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310896" cy="310896"/>
          </a:xfrm>
          <a:prstGeom prst="ellipse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868680" y="1938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agent understand what I mean?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868680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pass. Meaning drifts. One vendor's 'fault' isn't another's.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532120" y="19568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9224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AI suggestions over human ones — yet semantic drift goes unmeasured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381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310896" cy="310896"/>
          </a:xfrm>
          <a:prstGeom prst="ellipse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868680" y="2542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add agents I've never used before?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868680" y="2816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means multi-integration. A new agent is a new project.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532120" y="2560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492240" y="25786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an agent last year — swapping should not be a re-integration project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411480" y="3108960"/>
            <a:ext cx="8321040" cy="0"/>
          </a:xfrm>
          <a:prstGeom prst="line">
            <a:avLst/>
          </a:prstGeom>
          <a:noFill/>
          <a:ln w="381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3218688"/>
            <a:ext cx="310896" cy="310896"/>
          </a:xfrm>
          <a:prstGeom prst="ellipse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68680" y="3145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agent follow my rules?</a:t>
            </a:r>
            <a:endParaRPr lang="en-US" sz="1250"/>
          </a:p>
        </p:txBody>
      </p:sp>
      <p:sp>
        <p:nvSpPr>
          <p:cNvPr id="30" name="Text 28"/>
          <p:cNvSpPr/>
          <p:nvPr/>
        </p:nvSpPr>
        <p:spPr>
          <a:xfrm>
            <a:off x="868680" y="3419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follow vendor defaults run their workshop — not your network.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5532120" y="31638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6492240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an accurate but unexplainable decision is more dangerous than a traceable error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411480" y="3712464"/>
            <a:ext cx="8321040" cy="0"/>
          </a:xfrm>
          <a:prstGeom prst="line">
            <a:avLst/>
          </a:prstGeom>
          <a:noFill/>
          <a:ln w="381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1480" y="3822192"/>
            <a:ext cx="310896" cy="310896"/>
          </a:xfrm>
          <a:prstGeom prst="ellipse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86868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prove it did the right thing?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868680" y="4023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is not provable. Auditors and regulators need more than vibes.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5532120" y="3767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/>
          </a:p>
        </p:txBody>
      </p:sp>
      <p:sp>
        <p:nvSpPr>
          <p:cNvPr id="39" name="Text 37"/>
          <p:cNvSpPr/>
          <p:nvPr/>
        </p:nvSpPr>
        <p:spPr>
          <a:xfrm>
            <a:off x="6492240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trace an AI decision end-to-end for a regulator. Today. In production.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411480" y="45262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this presentation answers all five — in order, because each depends on the one before.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3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522B849-4A05-43B2-A359-7C201AAFF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59" y="834038"/>
            <a:ext cx="6930641" cy="390055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A2A leaves agents guessing.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protocols rely on interpretation — chattiness, unverified intent, execution failure.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2976418" y="15077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600" b="1">
              <a:solidFill>
                <a:srgbClr val="FE7CB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32574" y="3552444"/>
            <a:ext cx="14548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4</a:t>
            </a:fld>
            <a:endParaRPr lang="en-GB" sz="90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E3975B-4503-4C34-9482-D54B25F60247}"/>
              </a:ext>
            </a:extLst>
          </p:cNvPr>
          <p:cNvSpPr/>
          <p:nvPr/>
        </p:nvSpPr>
        <p:spPr>
          <a:xfrm>
            <a:off x="1" y="1060703"/>
            <a:ext cx="1251526" cy="3741950"/>
          </a:xfrm>
          <a:prstGeom prst="rect">
            <a:avLst/>
          </a:prstGeom>
          <a:solidFill>
            <a:srgbClr val="010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D724DB-C32B-4AD6-9844-9A624C56DD0D}"/>
              </a:ext>
            </a:extLst>
          </p:cNvPr>
          <p:cNvSpPr/>
          <p:nvPr/>
        </p:nvSpPr>
        <p:spPr>
          <a:xfrm>
            <a:off x="7486073" y="905256"/>
            <a:ext cx="1657925" cy="3880558"/>
          </a:xfrm>
          <a:prstGeom prst="rect">
            <a:avLst/>
          </a:prstGeom>
          <a:solidFill>
            <a:srgbClr val="010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313DADE-C3E2-46BA-B3C3-59CEC8460B9B}"/>
              </a:ext>
            </a:extLst>
          </p:cNvPr>
          <p:cNvSpPr/>
          <p:nvPr/>
        </p:nvSpPr>
        <p:spPr>
          <a:xfrm flipV="1">
            <a:off x="1" y="11723"/>
            <a:ext cx="9143999" cy="1060703"/>
          </a:xfrm>
          <a:prstGeom prst="rect">
            <a:avLst/>
          </a:prstGeom>
          <a:solidFill>
            <a:srgbClr val="010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FDA4E-8EA0-4AF5-A665-A7365667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10" y="1064804"/>
            <a:ext cx="7710784" cy="343276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953EB-7935-42F4-9CE6-5F467C79542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348538" y="4903788"/>
            <a:ext cx="1795462" cy="142875"/>
          </a:xfrm>
          <a:prstGeom prst="rect">
            <a:avLst/>
          </a:prstGeom>
        </p:spPr>
        <p:txBody>
          <a:bodyPr/>
          <a:lstStyle/>
          <a:p>
            <a:pPr defTabSz="685800"/>
            <a:r>
              <a:rPr lang="en-GB">
                <a:solidFill>
                  <a:prstClr val="white"/>
                </a:solidFill>
                <a:latin typeface="Aptos"/>
              </a:rPr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2349C-8A94-44EA-99E2-CE4A1B8DD14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900613"/>
            <a:ext cx="3311525" cy="180975"/>
          </a:xfrm>
          <a:prstGeom prst="rect">
            <a:avLst/>
          </a:prstGeom>
        </p:spPr>
        <p:txBody>
          <a:bodyPr/>
          <a:lstStyle/>
          <a:p>
            <a:pPr defTabSz="685800"/>
            <a:r>
              <a:rPr lang="en-GB">
                <a:solidFill>
                  <a:prstClr val="white"/>
                </a:solidFill>
                <a:latin typeface="Aptos"/>
              </a:rPr>
              <a:t>C26.0.910 Agent Fabric: A2A-T Runtime Phase III</a:t>
            </a:r>
          </a:p>
          <a:p>
            <a:pPr defTabSz="685800"/>
            <a:endParaRPr lang="en-GB">
              <a:solidFill>
                <a:prstClr val="white"/>
              </a:solidFill>
              <a:latin typeface="Apto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21D1E-72C6-46B8-9805-DEDFE3F504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70913" y="4899025"/>
            <a:ext cx="573087" cy="142875"/>
          </a:xfrm>
          <a:prstGeom prst="rect">
            <a:avLst/>
          </a:prstGeom>
        </p:spPr>
        <p:txBody>
          <a:bodyPr/>
          <a:lstStyle/>
          <a:p>
            <a:pPr defTabSz="685800"/>
            <a:fld id="{7DD8F28C-E404-44CF-9F42-4614D03DA8C2}" type="slidenum">
              <a:rPr lang="en-GB">
                <a:solidFill>
                  <a:prstClr val="white"/>
                </a:solidFill>
                <a:latin typeface="Aptos"/>
              </a:rPr>
              <a:pPr defTabSz="685800"/>
              <a:t>5</a:t>
            </a:fld>
            <a:endParaRPr lang="en-GB">
              <a:solidFill>
                <a:prstClr val="white"/>
              </a:solidFill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7DCCFA-0389-4C7A-925C-07EEDFEAB127}"/>
              </a:ext>
            </a:extLst>
          </p:cNvPr>
          <p:cNvSpPr/>
          <p:nvPr/>
        </p:nvSpPr>
        <p:spPr>
          <a:xfrm>
            <a:off x="1142180" y="2225320"/>
            <a:ext cx="6141625" cy="276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350" b="1" i="1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A2A standardizes the channel. Each agent interprets differently. </a:t>
            </a:r>
          </a:p>
          <a:p>
            <a:pPr algn="ctr" defTabSz="685800"/>
            <a:r>
              <a:rPr lang="en-US" sz="1350" b="1" i="1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causes retries, misrouting, and failed execution.</a:t>
            </a:r>
          </a:p>
        </p:txBody>
      </p:sp>
      <p:sp>
        <p:nvSpPr>
          <p:cNvPr id="17" name="Shape 47">
            <a:extLst>
              <a:ext uri="{FF2B5EF4-FFF2-40B4-BE49-F238E27FC236}">
                <a16:creationId xmlns:a16="http://schemas.microsoft.com/office/drawing/2014/main" id="{639B692C-6B31-484F-BD3F-1844307B5817}"/>
              </a:ext>
            </a:extLst>
          </p:cNvPr>
          <p:cNvSpPr/>
          <p:nvPr/>
        </p:nvSpPr>
        <p:spPr>
          <a:xfrm>
            <a:off x="1070140" y="4313052"/>
            <a:ext cx="2155313" cy="4437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48">
            <a:extLst>
              <a:ext uri="{FF2B5EF4-FFF2-40B4-BE49-F238E27FC236}">
                <a16:creationId xmlns:a16="http://schemas.microsoft.com/office/drawing/2014/main" id="{FBD9C963-74B2-427B-B8AD-21A1E2A7BBB8}"/>
              </a:ext>
            </a:extLst>
          </p:cNvPr>
          <p:cNvSpPr/>
          <p:nvPr/>
        </p:nvSpPr>
        <p:spPr>
          <a:xfrm>
            <a:off x="1537165" y="4371768"/>
            <a:ext cx="2155313" cy="443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350" b="1">
                <a:solidFill>
                  <a:srgbClr val="9B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AN</a:t>
            </a:r>
            <a:r>
              <a:rPr lang="en-US" sz="1350" b="1">
                <a:solidFill>
                  <a:srgbClr val="9BCCDC"/>
                </a:solidFill>
                <a:latin typeface="Aptos"/>
              </a:rPr>
              <a:t> </a:t>
            </a:r>
            <a:r>
              <a:rPr lang="en-US" sz="1350" b="1">
                <a:solidFill>
                  <a:srgbClr val="9B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 Sub-Scenarios</a:t>
            </a:r>
            <a:endParaRPr lang="en-US" sz="1350" b="1">
              <a:solidFill>
                <a:srgbClr val="9BCCDC"/>
              </a:solidFill>
              <a:latin typeface="Aptos"/>
            </a:endParaRPr>
          </a:p>
        </p:txBody>
      </p:sp>
      <p:sp>
        <p:nvSpPr>
          <p:cNvPr id="19" name="Shape 49">
            <a:extLst>
              <a:ext uri="{FF2B5EF4-FFF2-40B4-BE49-F238E27FC236}">
                <a16:creationId xmlns:a16="http://schemas.microsoft.com/office/drawing/2014/main" id="{AE0A5DE1-764A-4522-9C56-F07C47D1BB2B}"/>
              </a:ext>
            </a:extLst>
          </p:cNvPr>
          <p:cNvSpPr/>
          <p:nvPr/>
        </p:nvSpPr>
        <p:spPr>
          <a:xfrm>
            <a:off x="3352237" y="4313052"/>
            <a:ext cx="2028530" cy="4437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F6C5AF82-8231-42F3-8674-F65E4174D27A}"/>
              </a:ext>
            </a:extLst>
          </p:cNvPr>
          <p:cNvSpPr/>
          <p:nvPr/>
        </p:nvSpPr>
        <p:spPr>
          <a:xfrm>
            <a:off x="3767096" y="4371768"/>
            <a:ext cx="663359" cy="443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350" b="1">
                <a:solidFill>
                  <a:srgbClr val="89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</a:t>
            </a:r>
            <a:endParaRPr lang="en-US" sz="1350" b="1">
              <a:solidFill>
                <a:srgbClr val="89C5D3"/>
              </a:solidFill>
              <a:latin typeface="Aptos"/>
            </a:endParaRPr>
          </a:p>
        </p:txBody>
      </p:sp>
      <p:sp>
        <p:nvSpPr>
          <p:cNvPr id="21" name="Shape 51">
            <a:extLst>
              <a:ext uri="{FF2B5EF4-FFF2-40B4-BE49-F238E27FC236}">
                <a16:creationId xmlns:a16="http://schemas.microsoft.com/office/drawing/2014/main" id="{AD261203-6107-4F43-8355-4EAE5BB47E40}"/>
              </a:ext>
            </a:extLst>
          </p:cNvPr>
          <p:cNvSpPr/>
          <p:nvPr/>
        </p:nvSpPr>
        <p:spPr>
          <a:xfrm>
            <a:off x="5507551" y="4313052"/>
            <a:ext cx="1901747" cy="4437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52">
            <a:extLst>
              <a:ext uri="{FF2B5EF4-FFF2-40B4-BE49-F238E27FC236}">
                <a16:creationId xmlns:a16="http://schemas.microsoft.com/office/drawing/2014/main" id="{7FF61F34-04FA-4262-AB2A-F46A49B91AD4}"/>
              </a:ext>
            </a:extLst>
          </p:cNvPr>
          <p:cNvSpPr/>
          <p:nvPr/>
        </p:nvSpPr>
        <p:spPr>
          <a:xfrm>
            <a:off x="4652859" y="4371768"/>
            <a:ext cx="1901747" cy="4437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defTabSz="685800"/>
            <a:r>
              <a:rPr lang="en-US" sz="1350" b="1">
                <a:solidFill>
                  <a:srgbClr val="619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IG1453 “A2A-T” Spec</a:t>
            </a:r>
            <a:endParaRPr lang="en-US" sz="1350" b="1">
              <a:solidFill>
                <a:srgbClr val="6197E3"/>
              </a:solidFill>
              <a:latin typeface="Aptos"/>
            </a:endParaRPr>
          </a:p>
        </p:txBody>
      </p:sp>
      <p:sp>
        <p:nvSpPr>
          <p:cNvPr id="23" name="Text 53">
            <a:extLst>
              <a:ext uri="{FF2B5EF4-FFF2-40B4-BE49-F238E27FC236}">
                <a16:creationId xmlns:a16="http://schemas.microsoft.com/office/drawing/2014/main" id="{99ADDB4D-B592-4AC8-BA2E-A1AFFB5386D9}"/>
              </a:ext>
            </a:extLst>
          </p:cNvPr>
          <p:cNvSpPr/>
          <p:nvPr/>
        </p:nvSpPr>
        <p:spPr>
          <a:xfrm>
            <a:off x="699394" y="4037929"/>
            <a:ext cx="3169579" cy="221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350" b="1" i="1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comes from:</a:t>
            </a:r>
            <a:endParaRPr lang="en-US" sz="1350" b="1">
              <a:solidFill>
                <a:prstClr val="black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E4BB9-92F9-4C12-B091-44E656FB1C3E}"/>
              </a:ext>
            </a:extLst>
          </p:cNvPr>
          <p:cNvSpPr txBox="1"/>
          <p:nvPr/>
        </p:nvSpPr>
        <p:spPr>
          <a:xfrm>
            <a:off x="942425" y="1518274"/>
            <a:ext cx="715260" cy="507831"/>
          </a:xfrm>
          <a:prstGeom prst="rect">
            <a:avLst/>
          </a:prstGeom>
          <a:solidFill>
            <a:srgbClr val="224776"/>
          </a:solidFill>
        </p:spPr>
        <p:txBody>
          <a:bodyPr wrap="none" rtlCol="0">
            <a:spAutoFit/>
          </a:bodyPr>
          <a:lstStyle/>
          <a:p>
            <a:pPr algn="ctr" defTabSz="685800"/>
            <a:r>
              <a:rPr lang="en-US" sz="1350" b="1">
                <a:solidFill>
                  <a:prstClr val="white"/>
                </a:solidFill>
                <a:latin typeface="Aptos"/>
              </a:rPr>
              <a:t>Agent </a:t>
            </a:r>
          </a:p>
          <a:p>
            <a:pPr algn="ctr" defTabSz="685800"/>
            <a:r>
              <a:rPr lang="en-US" sz="1350" b="1">
                <a:solidFill>
                  <a:prstClr val="white"/>
                </a:solidFill>
                <a:latin typeface="Aptos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CC255F-202A-4713-9338-71F7E7D7D899}"/>
              </a:ext>
            </a:extLst>
          </p:cNvPr>
          <p:cNvSpPr txBox="1"/>
          <p:nvPr/>
        </p:nvSpPr>
        <p:spPr>
          <a:xfrm>
            <a:off x="7283805" y="1460757"/>
            <a:ext cx="715260" cy="507831"/>
          </a:xfrm>
          <a:prstGeom prst="rect">
            <a:avLst/>
          </a:prstGeom>
          <a:solidFill>
            <a:srgbClr val="224776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defTabSz="685800"/>
            <a:r>
              <a:rPr lang="en-US" sz="1350">
                <a:solidFill>
                  <a:prstClr val="white"/>
                </a:solidFill>
                <a:latin typeface="Aptos"/>
              </a:rPr>
              <a:t>Agent </a:t>
            </a:r>
          </a:p>
          <a:p>
            <a:pPr defTabSz="685800"/>
            <a:r>
              <a:rPr lang="en-US" sz="1350">
                <a:solidFill>
                  <a:prstClr val="white"/>
                </a:solidFill>
                <a:latin typeface="Aptos"/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8EC03D-0710-497C-A7C1-EE917A972F4D}"/>
              </a:ext>
            </a:extLst>
          </p:cNvPr>
          <p:cNvSpPr txBox="1"/>
          <p:nvPr/>
        </p:nvSpPr>
        <p:spPr>
          <a:xfrm>
            <a:off x="4478341" y="3075919"/>
            <a:ext cx="6559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b="1">
                <a:solidFill>
                  <a:prstClr val="black"/>
                </a:solidFill>
                <a:latin typeface="Aptos"/>
              </a:rPr>
              <a:t>A2A-T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B97284-0573-42EC-B51C-EB115756E49D}"/>
              </a:ext>
            </a:extLst>
          </p:cNvPr>
          <p:cNvGrpSpPr/>
          <p:nvPr/>
        </p:nvGrpSpPr>
        <p:grpSpPr>
          <a:xfrm>
            <a:off x="5380767" y="1816868"/>
            <a:ext cx="1680210" cy="260604"/>
            <a:chOff x="7619334" y="2407822"/>
            <a:chExt cx="2240280" cy="347472"/>
          </a:xfrm>
        </p:grpSpPr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5372790B-B503-4050-8004-063B16D4F9AB}"/>
                </a:ext>
              </a:extLst>
            </p:cNvPr>
            <p:cNvSpPr/>
            <p:nvPr/>
          </p:nvSpPr>
          <p:spPr>
            <a:xfrm>
              <a:off x="7619334" y="2407822"/>
              <a:ext cx="2240280" cy="347472"/>
            </a:xfrm>
            <a:prstGeom prst="roundRect">
              <a:avLst>
                <a:gd name="adj" fmla="val 15789"/>
              </a:avLst>
            </a:prstGeom>
            <a:solidFill>
              <a:srgbClr val="FFF7F4">
                <a:alpha val="95000"/>
              </a:srgbClr>
            </a:solidFill>
            <a:ln w="15240">
              <a:solidFill>
                <a:srgbClr val="D98962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644E497E-FF94-469E-A156-CE28596CE9FD}"/>
                </a:ext>
              </a:extLst>
            </p:cNvPr>
            <p:cNvSpPr/>
            <p:nvPr/>
          </p:nvSpPr>
          <p:spPr>
            <a:xfrm>
              <a:off x="7708392" y="2414016"/>
              <a:ext cx="2093976" cy="310896"/>
            </a:xfrm>
            <a:prstGeom prst="rect">
              <a:avLst/>
            </a:prstGeom>
            <a:noFill/>
            <a:ln/>
          </p:spPr>
          <p:txBody>
            <a:bodyPr wrap="square" lIns="476" tIns="476" rIns="476" bIns="476" rtlCol="0" anchor="ctr">
              <a:normAutofit fontScale="92500" lnSpcReduction="20000"/>
            </a:bodyPr>
            <a:lstStyle/>
            <a:p>
              <a:pPr defTabSz="685800"/>
              <a:r>
                <a:rPr lang="en-US" sz="938" b="1">
                  <a:solidFill>
                    <a:srgbClr val="A044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ERROR · REWORK · ESCALATION</a:t>
              </a:r>
              <a:endParaRPr lang="en-US" sz="938">
                <a:solidFill>
                  <a:prstClr val="black"/>
                </a:solidFill>
                <a:latin typeface="Aptos"/>
              </a:endParaRPr>
            </a:p>
          </p:txBody>
        </p:sp>
      </p:grpSp>
      <p:sp>
        <p:nvSpPr>
          <p:cNvPr id="36" name="Text 14">
            <a:extLst>
              <a:ext uri="{FF2B5EF4-FFF2-40B4-BE49-F238E27FC236}">
                <a16:creationId xmlns:a16="http://schemas.microsoft.com/office/drawing/2014/main" id="{F69424F6-E8F8-43DC-8917-8FCF25DB1FBB}"/>
              </a:ext>
            </a:extLst>
          </p:cNvPr>
          <p:cNvSpPr/>
          <p:nvPr/>
        </p:nvSpPr>
        <p:spPr>
          <a:xfrm>
            <a:off x="2818343" y="2696803"/>
            <a:ext cx="3669030" cy="233172"/>
          </a:xfrm>
          <a:prstGeom prst="rect">
            <a:avLst/>
          </a:prstGeom>
          <a:noFill/>
          <a:ln/>
        </p:spPr>
        <p:txBody>
          <a:bodyPr wrap="square" lIns="476" tIns="476" rIns="476" bIns="476" rtlCol="0" anchor="ctr">
            <a:normAutofit/>
          </a:bodyPr>
          <a:lstStyle/>
          <a:p>
            <a:pPr defTabSz="685800"/>
            <a:r>
              <a:rPr lang="en-US" sz="1065" b="1">
                <a:solidFill>
                  <a:prstClr val="whit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messages · typed intent · first-time execution</a:t>
            </a:r>
            <a:endParaRPr lang="en-US" sz="1065">
              <a:solidFill>
                <a:prstClr val="white"/>
              </a:solidFill>
              <a:latin typeface="Aptos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60DFBE35-F502-44B2-A30A-461CCBCAD3F7}"/>
              </a:ext>
            </a:extLst>
          </p:cNvPr>
          <p:cNvSpPr/>
          <p:nvPr/>
        </p:nvSpPr>
        <p:spPr>
          <a:xfrm>
            <a:off x="5877571" y="3991203"/>
            <a:ext cx="2674620" cy="466344"/>
          </a:xfrm>
          <a:prstGeom prst="rect">
            <a:avLst/>
          </a:prstGeom>
          <a:noFill/>
          <a:ln/>
        </p:spPr>
        <p:txBody>
          <a:bodyPr wrap="square" lIns="476" tIns="476" rIns="476" bIns="476" rtlCol="0" anchor="ctr">
            <a:normAutofit lnSpcReduction="10000"/>
          </a:bodyPr>
          <a:lstStyle/>
          <a:p>
            <a:pPr defTabSz="685800"/>
            <a:r>
              <a:rPr lang="en-US" sz="788">
                <a:solidFill>
                  <a:srgbClr val="10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HVS-1 · Slice QoS Degradation</a:t>
            </a:r>
            <a:endParaRPr lang="en-US" sz="788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788">
                <a:solidFill>
                  <a:srgbClr val="10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TargetType: FAULT_MANAGEMENT  |  Domain: TRANSPORT</a:t>
            </a:r>
            <a:endParaRPr lang="en-US" sz="788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788">
                <a:solidFill>
                  <a:srgbClr val="10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HIGH  |  SLA remaining: 18 min  |  Action: re-route via backup LSP</a:t>
            </a:r>
            <a:endParaRPr lang="en-US" sz="788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DAD05A-F23F-47E8-AADC-F19308FA03FD}"/>
              </a:ext>
            </a:extLst>
          </p:cNvPr>
          <p:cNvGrpSpPr/>
          <p:nvPr/>
        </p:nvGrpSpPr>
        <p:grpSpPr>
          <a:xfrm>
            <a:off x="7433223" y="3731979"/>
            <a:ext cx="1577340" cy="329184"/>
            <a:chOff x="9144000" y="5669280"/>
            <a:chExt cx="2103120" cy="438912"/>
          </a:xfrm>
        </p:grpSpPr>
        <p:sp>
          <p:nvSpPr>
            <p:cNvPr id="41" name="Shape 29">
              <a:extLst>
                <a:ext uri="{FF2B5EF4-FFF2-40B4-BE49-F238E27FC236}">
                  <a16:creationId xmlns:a16="http://schemas.microsoft.com/office/drawing/2014/main" id="{F541BF11-756E-452A-86D6-C85E8464153B}"/>
                </a:ext>
              </a:extLst>
            </p:cNvPr>
            <p:cNvSpPr/>
            <p:nvPr/>
          </p:nvSpPr>
          <p:spPr>
            <a:xfrm>
              <a:off x="9144000" y="5669280"/>
              <a:ext cx="2103120" cy="438912"/>
            </a:xfrm>
            <a:prstGeom prst="roundRect">
              <a:avLst>
                <a:gd name="adj" fmla="val 16667"/>
              </a:avLst>
            </a:prstGeom>
            <a:solidFill>
              <a:srgbClr val="E8F7F2"/>
            </a:solidFill>
            <a:ln w="15240">
              <a:solidFill>
                <a:srgbClr val="1F8F79"/>
              </a:solidFill>
              <a:prstDash val="solid"/>
            </a:ln>
          </p:spPr>
        </p:sp>
        <p:sp>
          <p:nvSpPr>
            <p:cNvPr id="42" name="Text 30">
              <a:extLst>
                <a:ext uri="{FF2B5EF4-FFF2-40B4-BE49-F238E27FC236}">
                  <a16:creationId xmlns:a16="http://schemas.microsoft.com/office/drawing/2014/main" id="{865A2AC5-8B5E-4B36-BD2A-8D83423B0923}"/>
                </a:ext>
              </a:extLst>
            </p:cNvPr>
            <p:cNvSpPr/>
            <p:nvPr/>
          </p:nvSpPr>
          <p:spPr>
            <a:xfrm>
              <a:off x="9253728" y="5715000"/>
              <a:ext cx="1901952" cy="329184"/>
            </a:xfrm>
            <a:prstGeom prst="rect">
              <a:avLst/>
            </a:prstGeom>
            <a:noFill/>
            <a:ln/>
          </p:spPr>
          <p:txBody>
            <a:bodyPr wrap="square" lIns="476" tIns="476" rIns="476" bIns="476" rtlCol="0" anchor="ctr">
              <a:normAutofit/>
            </a:bodyPr>
            <a:lstStyle/>
            <a:p>
              <a:pPr defTabSz="685800"/>
              <a:r>
                <a:rPr lang="en-US" sz="1050" b="1">
                  <a:solidFill>
                    <a:srgbClr val="1F8F7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✓ Executed first time</a:t>
              </a:r>
              <a:endParaRPr lang="en-US" sz="1050">
                <a:solidFill>
                  <a:prstClr val="black"/>
                </a:solidFill>
                <a:latin typeface="Aptos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CF27F99-2C97-4D2C-A747-CFB7536C6CFC}"/>
              </a:ext>
            </a:extLst>
          </p:cNvPr>
          <p:cNvSpPr txBox="1"/>
          <p:nvPr/>
        </p:nvSpPr>
        <p:spPr>
          <a:xfrm>
            <a:off x="660694" y="2985270"/>
            <a:ext cx="715260" cy="507831"/>
          </a:xfrm>
          <a:prstGeom prst="rect">
            <a:avLst/>
          </a:prstGeom>
          <a:solidFill>
            <a:srgbClr val="224776"/>
          </a:solidFill>
        </p:spPr>
        <p:txBody>
          <a:bodyPr wrap="none" rtlCol="0">
            <a:spAutoFit/>
          </a:bodyPr>
          <a:lstStyle/>
          <a:p>
            <a:pPr algn="ctr" defTabSz="685800"/>
            <a:r>
              <a:rPr lang="en-US" sz="1350" b="1">
                <a:solidFill>
                  <a:prstClr val="white"/>
                </a:solidFill>
                <a:latin typeface="Aptos"/>
              </a:rPr>
              <a:t>Agent </a:t>
            </a:r>
          </a:p>
          <a:p>
            <a:pPr algn="ctr" defTabSz="685800"/>
            <a:r>
              <a:rPr lang="en-US" sz="1350" b="1">
                <a:solidFill>
                  <a:prstClr val="white"/>
                </a:solidFill>
                <a:latin typeface="Aptos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4AB1D3-38F2-475F-956B-C450597B1DC7}"/>
              </a:ext>
            </a:extLst>
          </p:cNvPr>
          <p:cNvSpPr txBox="1"/>
          <p:nvPr/>
        </p:nvSpPr>
        <p:spPr>
          <a:xfrm>
            <a:off x="7314153" y="2960185"/>
            <a:ext cx="715260" cy="507831"/>
          </a:xfrm>
          <a:prstGeom prst="rect">
            <a:avLst/>
          </a:prstGeom>
          <a:solidFill>
            <a:srgbClr val="224776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defTabSz="685800"/>
            <a:r>
              <a:rPr lang="en-US" sz="1350">
                <a:solidFill>
                  <a:prstClr val="white"/>
                </a:solidFill>
                <a:latin typeface="Aptos"/>
              </a:rPr>
              <a:t>Agent </a:t>
            </a:r>
          </a:p>
          <a:p>
            <a:pPr defTabSz="685800"/>
            <a:r>
              <a:rPr lang="en-US" sz="1350">
                <a:solidFill>
                  <a:prstClr val="white"/>
                </a:solidFill>
                <a:latin typeface="Aptos"/>
              </a:rPr>
              <a:t>B</a:t>
            </a:r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A5BBA0BC-CF6C-4DC2-8BA8-3240D7773D1F}"/>
              </a:ext>
            </a:extLst>
          </p:cNvPr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ooterBar">
            <a:extLst>
              <a:ext uri="{FF2B5EF4-FFF2-40B4-BE49-F238E27FC236}">
                <a16:creationId xmlns:a16="http://schemas.microsoft.com/office/drawing/2014/main" id="{4B91DB52-D718-4339-9CB3-AB0E4227598C}"/>
              </a:ext>
            </a:extLst>
          </p:cNvPr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FtrLeft">
            <a:extLst>
              <a:ext uri="{FF2B5EF4-FFF2-40B4-BE49-F238E27FC236}">
                <a16:creationId xmlns:a16="http://schemas.microsoft.com/office/drawing/2014/main" id="{69938CF2-5A7E-4C13-ABA7-63D53387E240}"/>
              </a:ext>
            </a:extLst>
          </p:cNvPr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31" name="FtrCenter">
            <a:extLst>
              <a:ext uri="{FF2B5EF4-FFF2-40B4-BE49-F238E27FC236}">
                <a16:creationId xmlns:a16="http://schemas.microsoft.com/office/drawing/2014/main" id="{2AB771FC-AD42-4EA7-BC66-206C673E728A}"/>
              </a:ext>
            </a:extLst>
          </p:cNvPr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32" name="FtrDate">
            <a:extLst>
              <a:ext uri="{FF2B5EF4-FFF2-40B4-BE49-F238E27FC236}">
                <a16:creationId xmlns:a16="http://schemas.microsoft.com/office/drawing/2014/main" id="{11FD9F4F-0C8B-4ADC-AA0A-869F42372FF9}"/>
              </a:ext>
            </a:extLst>
          </p:cNvPr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33" name="FtrNum">
            <a:extLst>
              <a:ext uri="{FF2B5EF4-FFF2-40B4-BE49-F238E27FC236}">
                <a16:creationId xmlns:a16="http://schemas.microsoft.com/office/drawing/2014/main" id="{C1E63CD6-CDFE-4335-A556-88737BF924F1}"/>
              </a:ext>
            </a:extLst>
          </p:cNvPr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5</a:t>
            </a:fld>
            <a:endParaRPr lang="en-GB" sz="900">
              <a:solidFill>
                <a:srgbClr val="FFFFFF"/>
              </a:solidFill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1FEF495F-1C74-4D1E-840C-47623741E696}"/>
              </a:ext>
            </a:extLst>
          </p:cNvPr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Talk vs Agents that Understand… Telecom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699C71D0-02C9-4357-9A3F-9D8EDFCDF388}"/>
              </a:ext>
            </a:extLst>
          </p:cNvPr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protocols rely on interpretation — chattiness, unverified intent, execution failure.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416550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Protocol to Trusted Autonomy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answers: why isn't the previous one enough?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530352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234440" y="1133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971800" y="11338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extends LF A2A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5440680" y="1133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pass messages… but do the messages mean anything?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11480" y="1700784"/>
            <a:ext cx="8321040" cy="530352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4650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97180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not just structure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4406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understand the task… but can they find who can execute it?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530352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5000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234440" y="2340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971800" y="23408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agent, any vendor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440680" y="23408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coordinate… but do they follow your rules?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11480" y="2907792"/>
            <a:ext cx="8321040" cy="530352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9535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1234440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297180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playbook applied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5440680" y="2944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comply… but can you prove it?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11480" y="3511296"/>
            <a:ext cx="8321040" cy="530352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511296"/>
            <a:ext cx="50292" cy="530352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5570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1234440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2971800" y="3547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you can prove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440680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autonomy. In production.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unlocks a new capability. Each capability is demonstrated live at DTW 2026.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6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A2A-T: Telecom Extension of LF A2A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not fork. Full implementation of TMF guidance in IG1453.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9228" y="1637679"/>
            <a:ext cx="2697480" cy="402336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980" y="172911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234948" y="1729119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 (structured prompt)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1189228" y="2085735"/>
            <a:ext cx="2697480" cy="402336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948" y="2177175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Negotiation-T   |   Event-T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1189228" y="2533791"/>
            <a:ext cx="2697480" cy="402336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980" y="2625231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1234948" y="2625231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189228" y="2981847"/>
            <a:ext cx="2697480" cy="402336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948" y="3073287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Message · Part · Artifact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1189228" y="3429903"/>
            <a:ext cx="2697480" cy="402336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980" y="3521343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1234948" y="3521343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POST/GET   |   Notification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1189228" y="3877959"/>
            <a:ext cx="2697480" cy="402336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980" y="396939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1234948" y="3969399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· gRPC · HTTP+REST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938694" y="1157902"/>
            <a:ext cx="0" cy="1330169"/>
          </a:xfrm>
          <a:prstGeom prst="line">
            <a:avLst/>
          </a:prstGeom>
          <a:noFill/>
          <a:ln w="254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33012" y="1637115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IG1453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Extensions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3959860" y="2533791"/>
            <a:ext cx="0" cy="1737360"/>
          </a:xfrm>
          <a:prstGeom prst="line">
            <a:avLst/>
          </a:prstGeom>
          <a:noFill/>
          <a:ln w="15240">
            <a:solidFill>
              <a:srgbClr val="3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33012" y="319215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A2A Base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5257800" y="1115568"/>
            <a:ext cx="3474720" cy="969264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57800" y="1115568"/>
            <a:ext cx="50292" cy="969264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22392" y="1179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6583680" y="1216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TASK ASSIGNMENT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5422392" y="14447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typed payload in message metadata. Binds task to HVS scenario, CSP-approved prompt, 3GPP schema. Receiving agent reads telecom intent before calling its LLM. Deprecated prompt versions rejected at runtime.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5257800" y="2176272"/>
            <a:ext cx="3474720" cy="969264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57800" y="2176272"/>
            <a:ext cx="50292" cy="969264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22392" y="2240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Negotiation-T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6583680" y="22768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RESOLUTION BEFORE EXECUTION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422392" y="250545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types: TARGET (objective unclear), FEASIBILITY (task not possible as stated), INFORMATION (executor missing data). Resolves before Task-T commits — not during. Zero downstream re-clarification across all HVS demo runs.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5257800" y="3236976"/>
            <a:ext cx="3474720" cy="969264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7800" y="3236976"/>
            <a:ext cx="50292" cy="969264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22392" y="3300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6583680" y="33375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DOMAIN-CENTRIC PUBLISH / SUBSCRIBE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5422392" y="35661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subscription contract spanning multiple tasks across domains. Fires for any matching telecom event regardless of originating task. Standard A2A is task-centric; Event-T is domain-centric — the gap matters at carrier scale.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5257800" y="4315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7116631" y="430028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647688" y="43159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062472" y="43479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7964424" y="43159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8622792" y="43159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7</a:t>
            </a:fld>
            <a:endParaRPr lang="en-GB" sz="900">
              <a:solidFill>
                <a:srgbClr val="FFFFFF"/>
              </a:solidFill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9A531B49-ED4E-801F-1CD0-D7000D899843}"/>
              </a:ext>
            </a:extLst>
          </p:cNvPr>
          <p:cNvSpPr/>
          <p:nvPr/>
        </p:nvSpPr>
        <p:spPr>
          <a:xfrm>
            <a:off x="1189228" y="1157901"/>
            <a:ext cx="2697480" cy="402336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1B99FF25-B831-B559-A66B-A529ECD96A02}"/>
              </a:ext>
            </a:extLst>
          </p:cNvPr>
          <p:cNvSpPr/>
          <p:nvPr/>
        </p:nvSpPr>
        <p:spPr>
          <a:xfrm>
            <a:off x="1234948" y="1249341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Trusted Flow | Secure Passport  (TG)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71450"/>
            <a:ext cx="82296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Layers. One Production System.</a:t>
            </a:r>
            <a:endParaRPr lang="en-US" sz="24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37169D-738F-4E03-81CC-8BF373E044BE}"/>
              </a:ext>
            </a:extLst>
          </p:cNvPr>
          <p:cNvGrpSpPr/>
          <p:nvPr/>
        </p:nvGrpSpPr>
        <p:grpSpPr>
          <a:xfrm>
            <a:off x="1346466" y="822960"/>
            <a:ext cx="6416361" cy="3566160"/>
            <a:chOff x="548640" y="1097280"/>
            <a:chExt cx="11064240" cy="475488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9FC826E-84CA-4F8D-9308-C54DA680621B}"/>
                </a:ext>
              </a:extLst>
            </p:cNvPr>
            <p:cNvSpPr/>
            <p:nvPr/>
          </p:nvSpPr>
          <p:spPr>
            <a:xfrm>
              <a:off x="662940" y="1188720"/>
              <a:ext cx="10858500" cy="4565904"/>
            </a:xfrm>
            <a:prstGeom prst="rect">
              <a:avLst/>
            </a:prstGeom>
            <a:solidFill>
              <a:srgbClr val="152554">
                <a:lumMod val="60000"/>
                <a:lumOff val="40000"/>
              </a:srgbClr>
            </a:solidFill>
          </p:spPr>
          <p:style>
            <a:lnRef idx="2">
              <a:srgbClr val="152554">
                <a:shade val="50000"/>
              </a:srgbClr>
            </a:lnRef>
            <a:fillRef idx="1">
              <a:srgbClr val="152554"/>
            </a:fillRef>
            <a:effectRef idx="0">
              <a:srgbClr val="152554"/>
            </a:effectRef>
            <a:fontRef idx="minor">
              <a:srgbClr val="152554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2DB022-9703-4D57-83DE-E712E9F05C9C}"/>
                </a:ext>
              </a:extLst>
            </p:cNvPr>
            <p:cNvSpPr/>
            <p:nvPr/>
          </p:nvSpPr>
          <p:spPr>
            <a:xfrm>
              <a:off x="1540585" y="2248752"/>
              <a:ext cx="9144000" cy="3140112"/>
            </a:xfrm>
            <a:prstGeom prst="rect">
              <a:avLst/>
            </a:prstGeom>
            <a:solidFill>
              <a:srgbClr val="152554">
                <a:lumMod val="40000"/>
                <a:lumOff val="60000"/>
              </a:srgbClr>
            </a:solidFill>
          </p:spPr>
          <p:style>
            <a:lnRef idx="2">
              <a:srgbClr val="152554">
                <a:shade val="50000"/>
              </a:srgbClr>
            </a:lnRef>
            <a:fillRef idx="1">
              <a:srgbClr val="152554"/>
            </a:fillRef>
            <a:effectRef idx="0">
              <a:srgbClr val="152554"/>
            </a:effectRef>
            <a:fontRef idx="minor">
              <a:srgbClr val="152554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50CF18-3052-4E65-83B0-CE140D98E98A}"/>
                </a:ext>
              </a:extLst>
            </p:cNvPr>
            <p:cNvSpPr/>
            <p:nvPr/>
          </p:nvSpPr>
          <p:spPr>
            <a:xfrm>
              <a:off x="3017520" y="3603812"/>
              <a:ext cx="6104965" cy="1653988"/>
            </a:xfrm>
            <a:prstGeom prst="rect">
              <a:avLst/>
            </a:prstGeom>
            <a:solidFill>
              <a:srgbClr val="152554">
                <a:lumMod val="20000"/>
                <a:lumOff val="80000"/>
              </a:srgbClr>
            </a:solidFill>
          </p:spPr>
          <p:style>
            <a:lnRef idx="2">
              <a:srgbClr val="152554">
                <a:shade val="50000"/>
              </a:srgbClr>
            </a:lnRef>
            <a:fillRef idx="1">
              <a:srgbClr val="152554"/>
            </a:fillRef>
            <a:effectRef idx="0">
              <a:srgbClr val="152554"/>
            </a:effectRef>
            <a:fontRef idx="minor">
              <a:srgbClr val="152554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" name="Shape 1"/>
            <p:cNvSpPr/>
            <p:nvPr/>
          </p:nvSpPr>
          <p:spPr>
            <a:xfrm>
              <a:off x="548640" y="109728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548640" y="109728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11384280" y="109728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1574780" y="109728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548640" y="581406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548640" y="562356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11384280" y="581406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11574780" y="562356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371600" y="1234440"/>
              <a:ext cx="9144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75" b="1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Agent Fabric (The Production System)</a:t>
              </a:r>
              <a:endParaRPr lang="en-US" sz="1275" b="1">
                <a:solidFill>
                  <a:schemeClr val="bg1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1627632"/>
              <a:ext cx="9144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>
                  <a:solidFill>
                    <a:srgbClr val="EAF0F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OpenAN + Trusted Data Gateway + Governance Agent + Audit + Eval + XAI</a:t>
              </a:r>
              <a:endParaRPr lang="en-US" sz="120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71600" y="214884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1371600" y="214884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10561320" y="214884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10751820" y="214884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1371600" y="544830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1371600" y="525780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10561320" y="5448300"/>
              <a:ext cx="228600" cy="381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10751820" y="5257800"/>
              <a:ext cx="38100" cy="228600"/>
            </a:xfrm>
            <a:prstGeom prst="rect">
              <a:avLst/>
            </a:prstGeom>
            <a:solidFill>
              <a:srgbClr val="2A3866"/>
            </a:solidFill>
            <a:ln w="12700">
              <a:solidFill>
                <a:srgbClr val="3A4A78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2194560" y="2286000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75" b="1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OpenAN (The Open-Source Core)</a:t>
              </a:r>
              <a:endParaRPr lang="en-US" sz="1275" b="1">
                <a:solidFill>
                  <a:schemeClr val="bg1"/>
                </a:solidFill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2194560" y="2697480"/>
              <a:ext cx="77724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125">
                  <a:solidFill>
                    <a:srgbClr val="EAF0F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Registry Center + Orchestration Center + Knowledge Graph.</a:t>
              </a:r>
              <a:endParaRPr lang="en-US" sz="1125"/>
            </a:p>
            <a:p>
              <a:pPr algn="ctr"/>
              <a:r>
                <a:rPr lang="en-US" sz="1125">
                  <a:solidFill>
                    <a:srgbClr val="EAF0F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Any operator can run it, contribute to it.</a:t>
              </a:r>
              <a:endParaRPr lang="en-US" sz="1125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520440"/>
              <a:ext cx="228600" cy="381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2926080" y="3520440"/>
              <a:ext cx="38100" cy="2286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9006840" y="3520440"/>
              <a:ext cx="228600" cy="381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9197340" y="3520440"/>
              <a:ext cx="38100" cy="2286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2926080" y="5308899"/>
              <a:ext cx="228600" cy="4572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2926080" y="5126019"/>
              <a:ext cx="38100" cy="2286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9006840" y="5308899"/>
              <a:ext cx="228600" cy="4572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9197340" y="5126019"/>
              <a:ext cx="38100" cy="228600"/>
            </a:xfrm>
            <a:prstGeom prst="rect">
              <a:avLst/>
            </a:prstGeom>
            <a:solidFill>
              <a:srgbClr val="D1005D"/>
            </a:solidFill>
            <a:ln w="12700">
              <a:solidFill>
                <a:srgbClr val="D1005D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200400" y="3657600"/>
              <a:ext cx="5760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350" b="1">
                  <a:solidFill>
                    <a:srgbClr val="FF4D9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A2A-T (The Protocol)</a:t>
              </a:r>
              <a:endParaRPr lang="en-US" sz="1350"/>
            </a:p>
          </p:txBody>
        </p:sp>
        <p:sp>
          <p:nvSpPr>
            <p:cNvPr id="32" name="Text 30"/>
            <p:cNvSpPr/>
            <p:nvPr/>
          </p:nvSpPr>
          <p:spPr>
            <a:xfrm>
              <a:off x="3200400" y="4114800"/>
              <a:ext cx="5760720" cy="7100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>
                  <a:solidFill>
                    <a:srgbClr val="FF4D9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Telecom extension of LF A2A.</a:t>
              </a:r>
              <a:endParaRPr lang="en-US" sz="1200"/>
            </a:p>
            <a:p>
              <a:pPr algn="ctr"/>
              <a:r>
                <a:rPr lang="en-US" sz="1200">
                  <a:solidFill>
                    <a:srgbClr val="FF4D9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agents say to each other —</a:t>
              </a:r>
              <a:endParaRPr lang="en-US" sz="1200"/>
            </a:p>
            <a:p>
              <a:pPr algn="ctr"/>
              <a:r>
                <a:rPr lang="en-US" sz="1200">
                  <a:solidFill>
                    <a:srgbClr val="FF4D9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and what it means.</a:t>
              </a:r>
              <a:endParaRPr lang="en-US" sz="1200"/>
            </a:p>
          </p:txBody>
        </p:sp>
      </p:grpSp>
      <p:sp>
        <p:nvSpPr>
          <p:cNvPr id="34" name="Text 32"/>
          <p:cNvSpPr/>
          <p:nvPr/>
        </p:nvSpPr>
        <p:spPr>
          <a:xfrm>
            <a:off x="411480" y="4385463"/>
            <a:ext cx="829818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>
                <a:solidFill>
                  <a:srgbClr val="9A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Catalyst = Agent Fabric + 7 vendor agents + 3 live HVS scenarios.</a:t>
            </a:r>
            <a:endParaRPr lang="en-US" sz="1125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8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68580"/>
            <a:ext cx="61722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 Catalyst Architecture </a:t>
            </a:r>
            <a:r>
              <a:rPr lang="en-US" sz="1600"/>
              <a:t>Where the agents live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205740" y="329184"/>
            <a:ext cx="68580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/>
          </a:p>
        </p:txBody>
      </p:sp>
      <p:sp>
        <p:nvSpPr>
          <p:cNvPr id="97" name="Text 48">
            <a:extLst>
              <a:ext uri="{FF2B5EF4-FFF2-40B4-BE49-F238E27FC236}">
                <a16:creationId xmlns:a16="http://schemas.microsoft.com/office/drawing/2014/main" id="{A101C5EF-125B-4705-8CD5-0C1882EFF83E}"/>
              </a:ext>
            </a:extLst>
          </p:cNvPr>
          <p:cNvSpPr/>
          <p:nvPr/>
        </p:nvSpPr>
        <p:spPr>
          <a:xfrm>
            <a:off x="6776168" y="1355605"/>
            <a:ext cx="1965960" cy="237744"/>
          </a:xfrm>
          <a:prstGeom prst="rect">
            <a:avLst/>
          </a:prstGeom>
          <a:solidFill>
            <a:srgbClr val="152554"/>
          </a:solidFill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 · OpenAN</a:t>
            </a:r>
          </a:p>
        </p:txBody>
      </p:sp>
      <p:sp>
        <p:nvSpPr>
          <p:cNvPr id="106" name="Text 57">
            <a:extLst>
              <a:ext uri="{FF2B5EF4-FFF2-40B4-BE49-F238E27FC236}">
                <a16:creationId xmlns:a16="http://schemas.microsoft.com/office/drawing/2014/main" id="{E1E5A45A-C30E-4EBF-84FE-DBFB63B76253}"/>
              </a:ext>
            </a:extLst>
          </p:cNvPr>
          <p:cNvSpPr/>
          <p:nvPr/>
        </p:nvSpPr>
        <p:spPr>
          <a:xfrm>
            <a:off x="6779874" y="2103333"/>
            <a:ext cx="1965960" cy="237744"/>
          </a:xfrm>
          <a:prstGeom prst="rect">
            <a:avLst/>
          </a:prstGeom>
          <a:solidFill>
            <a:srgbClr val="152554"/>
          </a:solidFill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</a:t>
            </a:r>
          </a:p>
        </p:txBody>
      </p:sp>
      <p:sp>
        <p:nvSpPr>
          <p:cNvPr id="107" name="Shape 58">
            <a:extLst>
              <a:ext uri="{FF2B5EF4-FFF2-40B4-BE49-F238E27FC236}">
                <a16:creationId xmlns:a16="http://schemas.microsoft.com/office/drawing/2014/main" id="{2FA8850D-45CD-4B86-BF3C-4951888B7DC6}"/>
              </a:ext>
            </a:extLst>
          </p:cNvPr>
          <p:cNvSpPr/>
          <p:nvPr/>
        </p:nvSpPr>
        <p:spPr>
          <a:xfrm>
            <a:off x="6845666" y="2356967"/>
            <a:ext cx="1879389" cy="347472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59">
            <a:extLst>
              <a:ext uri="{FF2B5EF4-FFF2-40B4-BE49-F238E27FC236}">
                <a16:creationId xmlns:a16="http://schemas.microsoft.com/office/drawing/2014/main" id="{9C79DE5F-CA33-4AFB-AEB6-C34EF13598DD}"/>
              </a:ext>
            </a:extLst>
          </p:cNvPr>
          <p:cNvSpPr/>
          <p:nvPr/>
        </p:nvSpPr>
        <p:spPr>
          <a:xfrm>
            <a:off x="6982666" y="2405085"/>
            <a:ext cx="176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· HVS semantics · versioned</a:t>
            </a:r>
            <a:endParaRPr lang="en-US" sz="800"/>
          </a:p>
        </p:txBody>
      </p:sp>
      <p:sp>
        <p:nvSpPr>
          <p:cNvPr id="110" name="Text 61">
            <a:extLst>
              <a:ext uri="{FF2B5EF4-FFF2-40B4-BE49-F238E27FC236}">
                <a16:creationId xmlns:a16="http://schemas.microsoft.com/office/drawing/2014/main" id="{BB16E6F3-337A-49B3-9A14-CBD119C41FBA}"/>
              </a:ext>
            </a:extLst>
          </p:cNvPr>
          <p:cNvSpPr/>
          <p:nvPr/>
        </p:nvSpPr>
        <p:spPr>
          <a:xfrm>
            <a:off x="6779874" y="2889717"/>
            <a:ext cx="1965960" cy="237744"/>
          </a:xfrm>
          <a:prstGeom prst="rect">
            <a:avLst/>
          </a:prstGeom>
          <a:solidFill>
            <a:srgbClr val="152554"/>
          </a:solidFill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</a:p>
        </p:txBody>
      </p:sp>
      <p:sp>
        <p:nvSpPr>
          <p:cNvPr id="111" name="Shape 62">
            <a:extLst>
              <a:ext uri="{FF2B5EF4-FFF2-40B4-BE49-F238E27FC236}">
                <a16:creationId xmlns:a16="http://schemas.microsoft.com/office/drawing/2014/main" id="{279C7F27-89E5-439E-8505-E62742274CE8}"/>
              </a:ext>
            </a:extLst>
          </p:cNvPr>
          <p:cNvSpPr/>
          <p:nvPr/>
        </p:nvSpPr>
        <p:spPr>
          <a:xfrm>
            <a:off x="6845666" y="3148676"/>
            <a:ext cx="1858733" cy="84124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63">
            <a:extLst>
              <a:ext uri="{FF2B5EF4-FFF2-40B4-BE49-F238E27FC236}">
                <a16:creationId xmlns:a16="http://schemas.microsoft.com/office/drawing/2014/main" id="{7FEAA819-E19F-450E-91BE-BE543F12A794}"/>
              </a:ext>
            </a:extLst>
          </p:cNvPr>
          <p:cNvSpPr/>
          <p:nvPr/>
        </p:nvSpPr>
        <p:spPr>
          <a:xfrm>
            <a:off x="6982666" y="3246333"/>
            <a:ext cx="176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· BPMN corpus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history</a:t>
            </a:r>
            <a:endParaRPr lang="en-US" sz="80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01CAB1B-2E69-445E-A4F9-35CF86794BEC}"/>
              </a:ext>
            </a:extLst>
          </p:cNvPr>
          <p:cNvSpPr txBox="1"/>
          <p:nvPr/>
        </p:nvSpPr>
        <p:spPr>
          <a:xfrm>
            <a:off x="3866466" y="4531821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/>
              <a:t>Aligned to TMF AN L4 Target Architecture (IG1251C)</a:t>
            </a:r>
          </a:p>
        </p:txBody>
      </p:sp>
      <p:sp>
        <p:nvSpPr>
          <p:cNvPr id="135" name="Shape 58">
            <a:extLst>
              <a:ext uri="{FF2B5EF4-FFF2-40B4-BE49-F238E27FC236}">
                <a16:creationId xmlns:a16="http://schemas.microsoft.com/office/drawing/2014/main" id="{8AF308D3-07AA-4A63-A7C0-F6B37D1A112A}"/>
              </a:ext>
            </a:extLst>
          </p:cNvPr>
          <p:cNvSpPr/>
          <p:nvPr/>
        </p:nvSpPr>
        <p:spPr>
          <a:xfrm>
            <a:off x="6845666" y="1631812"/>
            <a:ext cx="1879389" cy="347472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507171AF-C856-422F-9518-D48DFA0E7301}"/>
              </a:ext>
            </a:extLst>
          </p:cNvPr>
          <p:cNvSpPr/>
          <p:nvPr/>
        </p:nvSpPr>
        <p:spPr>
          <a:xfrm>
            <a:off x="6941231" y="1653515"/>
            <a:ext cx="176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– Authorization – Agent Cards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290858" y="1442514"/>
            <a:ext cx="6123754" cy="1952694"/>
          </a:xfrm>
          <a:prstGeom prst="rect">
            <a:avLst/>
          </a:prstGeom>
          <a:solidFill>
            <a:srgbClr val="152554"/>
          </a:solidFill>
          <a:ln w="12700">
            <a:solidFill>
              <a:srgbClr val="3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24">
            <a:extLst>
              <a:ext uri="{FF2B5EF4-FFF2-40B4-BE49-F238E27FC236}">
                <a16:creationId xmlns:a16="http://schemas.microsoft.com/office/drawing/2014/main" id="{63D80F9D-80CC-4724-B8FB-C19E5CBC64EA}"/>
              </a:ext>
            </a:extLst>
          </p:cNvPr>
          <p:cNvSpPr/>
          <p:nvPr/>
        </p:nvSpPr>
        <p:spPr>
          <a:xfrm>
            <a:off x="299053" y="2522265"/>
            <a:ext cx="3646631" cy="855674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46">
            <a:extLst>
              <a:ext uri="{FF2B5EF4-FFF2-40B4-BE49-F238E27FC236}">
                <a16:creationId xmlns:a16="http://schemas.microsoft.com/office/drawing/2014/main" id="{719BC726-3A2F-4D9E-8C38-817EA7B641C5}"/>
              </a:ext>
            </a:extLst>
          </p:cNvPr>
          <p:cNvSpPr/>
          <p:nvPr/>
        </p:nvSpPr>
        <p:spPr>
          <a:xfrm>
            <a:off x="3058114" y="2914435"/>
            <a:ext cx="837988" cy="33474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740" y="538322"/>
            <a:ext cx="6123754" cy="828899"/>
          </a:xfrm>
          <a:prstGeom prst="rect">
            <a:avLst/>
          </a:prstGeom>
          <a:solidFill>
            <a:srgbClr val="152554"/>
          </a:solidFill>
          <a:ln w="12700">
            <a:solidFill>
              <a:srgbClr val="3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0201" y="586143"/>
            <a:ext cx="1289212" cy="14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13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283093" y="761487"/>
            <a:ext cx="5969049" cy="22316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093" y="761487"/>
            <a:ext cx="5969049" cy="22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283093" y="1032473"/>
            <a:ext cx="1116457" cy="23910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093" y="1032473"/>
            <a:ext cx="1116457" cy="2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1496241" y="1032473"/>
            <a:ext cx="1116457" cy="23910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96241" y="1032473"/>
            <a:ext cx="1116457" cy="2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Agent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2709390" y="1032473"/>
            <a:ext cx="1116457" cy="23910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09390" y="1032473"/>
            <a:ext cx="1116457" cy="2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Engineer Copilot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3922536" y="1032473"/>
            <a:ext cx="1116457" cy="23910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22536" y="1032473"/>
            <a:ext cx="1116457" cy="2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Copilot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5135685" y="1032473"/>
            <a:ext cx="1116457" cy="23910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5685" y="1032473"/>
            <a:ext cx="1116457" cy="2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270201" y="1510052"/>
            <a:ext cx="1611514" cy="14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13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4694587" y="1506129"/>
            <a:ext cx="1307964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Orchestration + Registries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325228" y="1685396"/>
            <a:ext cx="2573588" cy="771665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3259" y="1725247"/>
            <a:ext cx="2710391" cy="17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x Service Centers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48007" y="1931093"/>
            <a:ext cx="1001822" cy="46227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Line</a:t>
            </a:r>
            <a:endParaRPr lang="en-US" sz="800"/>
          </a:p>
          <a:p>
            <a:pPr algn="ctr"/>
            <a:r>
              <a:rPr lang="en-US" sz="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Agent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1391432" y="1931093"/>
            <a:ext cx="1001822" cy="46227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38289" y="1931093"/>
            <a:ext cx="769751" cy="46227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/>
          </a:p>
          <a:p>
            <a:pPr algn="ctr"/>
            <a:r>
              <a:rPr lang="en-US" sz="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Agent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4279838" y="1940441"/>
            <a:ext cx="769751" cy="46227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348007" y="2539218"/>
            <a:ext cx="2578423" cy="1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x Operation Centers</a:t>
            </a:r>
          </a:p>
        </p:txBody>
      </p:sp>
      <p:sp>
        <p:nvSpPr>
          <p:cNvPr id="43" name="Text 41"/>
          <p:cNvSpPr/>
          <p:nvPr/>
        </p:nvSpPr>
        <p:spPr>
          <a:xfrm>
            <a:off x="2076329" y="2520822"/>
            <a:ext cx="1616395" cy="139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  ·  RADCOM  ·  Infovista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335893" y="2920773"/>
            <a:ext cx="837988" cy="33474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5893" y="2920773"/>
            <a:ext cx="837988" cy="33474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Center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1238341" y="2920773"/>
            <a:ext cx="837988" cy="33474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38341" y="2920773"/>
            <a:ext cx="837988" cy="33474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Agent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2140789" y="2920773"/>
            <a:ext cx="837988" cy="33474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40789" y="2920773"/>
            <a:ext cx="837988" cy="33474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Agent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3043236" y="2920773"/>
            <a:ext cx="837988" cy="33474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Orchestration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205740" y="3494626"/>
            <a:ext cx="6123754" cy="1355139"/>
          </a:xfrm>
          <a:prstGeom prst="rect">
            <a:avLst/>
          </a:prstGeom>
          <a:solidFill>
            <a:srgbClr val="152554"/>
          </a:solidFill>
          <a:ln w="12700">
            <a:solidFill>
              <a:srgbClr val="3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0201" y="3542448"/>
            <a:ext cx="1611514" cy="14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13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283093" y="3717791"/>
            <a:ext cx="2920064" cy="101528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7553" y="3765613"/>
            <a:ext cx="2791143" cy="17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/ RAN Domain  </a:t>
            </a: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</a:t>
            </a:r>
          </a:p>
        </p:txBody>
      </p:sp>
      <p:sp>
        <p:nvSpPr>
          <p:cNvPr id="58" name="Shape 56"/>
          <p:cNvSpPr/>
          <p:nvPr/>
        </p:nvSpPr>
        <p:spPr>
          <a:xfrm>
            <a:off x="347553" y="4031556"/>
            <a:ext cx="2631224" cy="255046"/>
          </a:xfrm>
          <a:prstGeom prst="rect">
            <a:avLst/>
          </a:prstGeom>
          <a:solidFill>
            <a:srgbClr val="152554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7553" y="4031556"/>
            <a:ext cx="2726682" cy="255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System Agent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347553" y="4350363"/>
            <a:ext cx="848731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47553" y="4350363"/>
            <a:ext cx="848731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1234960" y="4350363"/>
            <a:ext cx="848731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34960" y="4350363"/>
            <a:ext cx="848731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2122368" y="4350363"/>
            <a:ext cx="848731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122368" y="4350363"/>
            <a:ext cx="848731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3267617" y="3717791"/>
            <a:ext cx="2920064" cy="101528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332078" y="3765613"/>
            <a:ext cx="2791143" cy="17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Transport Domain  </a:t>
            </a: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3332078" y="4031556"/>
            <a:ext cx="2700897" cy="255046"/>
          </a:xfrm>
          <a:prstGeom prst="rect">
            <a:avLst/>
          </a:prstGeom>
          <a:solidFill>
            <a:srgbClr val="152554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332078" y="4031556"/>
            <a:ext cx="2804035" cy="255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System Agent</a:t>
            </a:r>
            <a:endParaRPr lang="en-US" sz="900"/>
          </a:p>
        </p:txBody>
      </p:sp>
      <p:sp>
        <p:nvSpPr>
          <p:cNvPr id="72" name="Shape 70"/>
          <p:cNvSpPr/>
          <p:nvPr/>
        </p:nvSpPr>
        <p:spPr>
          <a:xfrm>
            <a:off x="3332078" y="4350363"/>
            <a:ext cx="874515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332078" y="4350363"/>
            <a:ext cx="874515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74" name="Shape 72"/>
          <p:cNvSpPr/>
          <p:nvPr/>
        </p:nvSpPr>
        <p:spPr>
          <a:xfrm>
            <a:off x="4245269" y="4350363"/>
            <a:ext cx="874515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245269" y="4350363"/>
            <a:ext cx="874515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76" name="Shape 74"/>
          <p:cNvSpPr/>
          <p:nvPr/>
        </p:nvSpPr>
        <p:spPr>
          <a:xfrm>
            <a:off x="5158460" y="4350363"/>
            <a:ext cx="874515" cy="302867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158460" y="4350363"/>
            <a:ext cx="874515" cy="30286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ctr"/>
          <a:lstStyle/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</a:t>
            </a:r>
            <a:endParaRPr lang="en-US" sz="800"/>
          </a:p>
          <a:p>
            <a:pPr algn="ctr"/>
            <a:r>
              <a:rPr lang="en-US" sz="8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/>
          </a:p>
        </p:txBody>
      </p:sp>
      <p:sp>
        <p:nvSpPr>
          <p:cNvPr id="123" name="Shape 28">
            <a:extLst>
              <a:ext uri="{FF2B5EF4-FFF2-40B4-BE49-F238E27FC236}">
                <a16:creationId xmlns:a16="http://schemas.microsoft.com/office/drawing/2014/main" id="{8172B783-B4D4-4F7A-87C6-0DCFA8E52009}"/>
              </a:ext>
            </a:extLst>
          </p:cNvPr>
          <p:cNvSpPr/>
          <p:nvPr/>
        </p:nvSpPr>
        <p:spPr>
          <a:xfrm>
            <a:off x="2448325" y="1931093"/>
            <a:ext cx="302352" cy="46227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 anchor="ctr"/>
          <a:lstStyle/>
          <a:p>
            <a:r>
              <a:rPr lang="en-US" sz="120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26" name="Shape 24">
            <a:extLst>
              <a:ext uri="{FF2B5EF4-FFF2-40B4-BE49-F238E27FC236}">
                <a16:creationId xmlns:a16="http://schemas.microsoft.com/office/drawing/2014/main" id="{BB98ED44-B913-43BC-B94A-3B0F89AF7D0E}"/>
              </a:ext>
            </a:extLst>
          </p:cNvPr>
          <p:cNvSpPr/>
          <p:nvPr/>
        </p:nvSpPr>
        <p:spPr>
          <a:xfrm>
            <a:off x="4010732" y="1685394"/>
            <a:ext cx="2241410" cy="1692543"/>
          </a:xfrm>
          <a:prstGeom prst="rect">
            <a:avLst/>
          </a:prstGeom>
          <a:solidFill>
            <a:srgbClr val="152554"/>
          </a:solidFill>
          <a:ln w="1905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13740FC3-7D37-42E5-893B-246B2482544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02" y="1732459"/>
            <a:ext cx="1241300" cy="412111"/>
          </a:xfrm>
          <a:prstGeom prst="rect">
            <a:avLst/>
          </a:prstGeom>
          <a:solidFill>
            <a:srgbClr val="152554"/>
          </a:solidFill>
          <a:ln w="28575">
            <a:noFill/>
          </a:ln>
        </p:spPr>
      </p:pic>
      <p:sp>
        <p:nvSpPr>
          <p:cNvPr id="128" name="矩形: 圆角 95">
            <a:extLst>
              <a:ext uri="{FF2B5EF4-FFF2-40B4-BE49-F238E27FC236}">
                <a16:creationId xmlns:a16="http://schemas.microsoft.com/office/drawing/2014/main" id="{C00F39CD-9C83-4560-8488-81368343E0D4}"/>
              </a:ext>
            </a:extLst>
          </p:cNvPr>
          <p:cNvSpPr/>
          <p:nvPr/>
        </p:nvSpPr>
        <p:spPr>
          <a:xfrm>
            <a:off x="4078724" y="2576170"/>
            <a:ext cx="1336129" cy="349341"/>
          </a:xfrm>
          <a:prstGeom prst="roundRect">
            <a:avLst>
              <a:gd name="adj" fmla="val 0"/>
            </a:avLst>
          </a:prstGeom>
          <a:solidFill>
            <a:srgbClr val="152554"/>
          </a:solidFill>
          <a:ln w="12700">
            <a:solidFill>
              <a:srgbClr val="D1005D"/>
            </a:solidFill>
            <a:prstDash val="solid"/>
          </a:ln>
        </p:spPr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</a:t>
            </a:r>
          </a:p>
          <a:p>
            <a:pPr algn="ctr"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</a:p>
        </p:txBody>
      </p:sp>
      <p:sp>
        <p:nvSpPr>
          <p:cNvPr id="129" name="矩形: 圆角 96">
            <a:extLst>
              <a:ext uri="{FF2B5EF4-FFF2-40B4-BE49-F238E27FC236}">
                <a16:creationId xmlns:a16="http://schemas.microsoft.com/office/drawing/2014/main" id="{E43F410F-46D4-4D97-83F2-F2992FD5EEEA}"/>
              </a:ext>
            </a:extLst>
          </p:cNvPr>
          <p:cNvSpPr/>
          <p:nvPr/>
        </p:nvSpPr>
        <p:spPr>
          <a:xfrm>
            <a:off x="4080564" y="2136181"/>
            <a:ext cx="1334360" cy="386083"/>
          </a:xfrm>
          <a:prstGeom prst="roundRect">
            <a:avLst>
              <a:gd name="adj" fmla="val 0"/>
            </a:avLst>
          </a:prstGeom>
          <a:solidFill>
            <a:srgbClr val="152554"/>
          </a:solidFill>
          <a:ln w="12700">
            <a:solidFill>
              <a:srgbClr val="D1005D"/>
            </a:solidFill>
            <a:prstDash val="solid"/>
          </a:ln>
        </p:spPr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Center</a:t>
            </a:r>
          </a:p>
          <a:p>
            <a:pPr algn="ctr" defTabSz="914034">
              <a:defRPr/>
            </a:pPr>
            <a:endParaRPr lang="zh-CN" altLang="en-US" sz="900" b="1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A01D320-8879-4F78-AA96-B01E43C74B03}"/>
              </a:ext>
            </a:extLst>
          </p:cNvPr>
          <p:cNvGrpSpPr/>
          <p:nvPr/>
        </p:nvGrpSpPr>
        <p:grpSpPr>
          <a:xfrm>
            <a:off x="2975673" y="1685396"/>
            <a:ext cx="946863" cy="771666"/>
            <a:chOff x="4384778" y="2811780"/>
            <a:chExt cx="766439" cy="288036"/>
          </a:xfrm>
        </p:grpSpPr>
        <p:sp>
          <p:nvSpPr>
            <p:cNvPr id="52" name="Shape 50"/>
            <p:cNvSpPr/>
            <p:nvPr/>
          </p:nvSpPr>
          <p:spPr>
            <a:xfrm>
              <a:off x="4384778" y="2811780"/>
              <a:ext cx="721053" cy="288036"/>
            </a:xfrm>
            <a:prstGeom prst="rect">
              <a:avLst/>
            </a:prstGeom>
            <a:solidFill>
              <a:srgbClr val="152554"/>
            </a:solidFill>
            <a:ln w="12700">
              <a:solidFill>
                <a:srgbClr val="2E407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4384778" y="2811780"/>
              <a:ext cx="766439" cy="288036"/>
            </a:xfrm>
            <a:prstGeom prst="rect">
              <a:avLst/>
            </a:prstGeom>
            <a:solidFill>
              <a:srgbClr val="152554"/>
            </a:solidFill>
            <a:ln w="12700">
              <a:solidFill>
                <a:srgbClr val="2E4070"/>
              </a:solidFill>
              <a:prstDash val="solid"/>
            </a:ln>
          </p:spPr>
          <p:txBody>
            <a:bodyPr wrap="square" lIns="19050" tIns="19050" rIns="19050" bIns="19050" rtlCol="0" anchor="ctr"/>
            <a:lstStyle/>
            <a:p>
              <a:pPr algn="ctr"/>
              <a:endParaRPr lang="en-US" sz="800" b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algn="ctr"/>
              <a:r>
                <a:rPr lang="en-US" sz="800" b="1">
                  <a:solidFill>
                    <a:srgbClr val="EAF0F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Twin</a:t>
              </a:r>
            </a:p>
            <a:p>
              <a:pPr algn="ctr"/>
              <a:r>
                <a:rPr lang="en-US" sz="800" b="1">
                  <a:solidFill>
                    <a:srgbClr val="EAF0F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</a:t>
              </a:r>
            </a:p>
            <a:p>
              <a:pPr algn="ctr"/>
              <a:endParaRPr lang="en-US" sz="800" b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algn="ctr"/>
              <a:endParaRPr lang="en-US" sz="800" b="1"/>
            </a:p>
          </p:txBody>
        </p:sp>
      </p:grpSp>
      <p:sp>
        <p:nvSpPr>
          <p:cNvPr id="134" name="Freeform 32">
            <a:extLst>
              <a:ext uri="{FF2B5EF4-FFF2-40B4-BE49-F238E27FC236}">
                <a16:creationId xmlns:a16="http://schemas.microsoft.com/office/drawing/2014/main" id="{A02EE828-16F8-43B1-B351-048F1D8B65A6}"/>
              </a:ext>
            </a:extLst>
          </p:cNvPr>
          <p:cNvSpPr/>
          <p:nvPr/>
        </p:nvSpPr>
        <p:spPr>
          <a:xfrm>
            <a:off x="5618013" y="3809333"/>
            <a:ext cx="375182" cy="150073"/>
          </a:xfrm>
          <a:custGeom>
            <a:avLst/>
            <a:gdLst/>
            <a:ahLst/>
            <a:cxnLst/>
            <a:rect l="l" t="t" r="r" b="b"/>
            <a:pathLst>
              <a:path w="1157780" h="463112">
                <a:moveTo>
                  <a:pt x="0" y="0"/>
                </a:moveTo>
                <a:lnTo>
                  <a:pt x="1157780" y="0"/>
                </a:lnTo>
                <a:lnTo>
                  <a:pt x="1157780" y="463112"/>
                </a:lnTo>
                <a:lnTo>
                  <a:pt x="0" y="463112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85800">
              <a:defRPr/>
            </a:pPr>
            <a:endParaRPr lang="en-GB" sz="900">
              <a:solidFill>
                <a:prstClr val="black"/>
              </a:solidFill>
              <a:latin typeface="Aptos"/>
            </a:endParaRPr>
          </a:p>
        </p:txBody>
      </p:sp>
      <p:sp>
        <p:nvSpPr>
          <p:cNvPr id="142" name="矩形: 圆角 95">
            <a:extLst>
              <a:ext uri="{FF2B5EF4-FFF2-40B4-BE49-F238E27FC236}">
                <a16:creationId xmlns:a16="http://schemas.microsoft.com/office/drawing/2014/main" id="{E5C7AE8E-602D-4ACB-8F63-4677900BBF9A}"/>
              </a:ext>
            </a:extLst>
          </p:cNvPr>
          <p:cNvSpPr/>
          <p:nvPr/>
        </p:nvSpPr>
        <p:spPr>
          <a:xfrm>
            <a:off x="4080562" y="2985629"/>
            <a:ext cx="1334361" cy="298097"/>
          </a:xfrm>
          <a:prstGeom prst="roundRect">
            <a:avLst>
              <a:gd name="adj" fmla="val 0"/>
            </a:avLst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/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</a:t>
            </a:r>
          </a:p>
          <a:p>
            <a:pPr algn="ctr" defTabSz="914034"/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</a:p>
        </p:txBody>
      </p:sp>
      <p:sp>
        <p:nvSpPr>
          <p:cNvPr id="144" name="矩形: 圆角 95">
            <a:extLst>
              <a:ext uri="{FF2B5EF4-FFF2-40B4-BE49-F238E27FC236}">
                <a16:creationId xmlns:a16="http://schemas.microsoft.com/office/drawing/2014/main" id="{284679B3-F31C-4AC4-8B66-55859A180921}"/>
              </a:ext>
            </a:extLst>
          </p:cNvPr>
          <p:cNvSpPr/>
          <p:nvPr/>
        </p:nvSpPr>
        <p:spPr>
          <a:xfrm>
            <a:off x="5469999" y="2576170"/>
            <a:ext cx="698891" cy="707556"/>
          </a:xfrm>
          <a:prstGeom prst="roundRect">
            <a:avLst>
              <a:gd name="adj" fmla="val 0"/>
            </a:avLst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/>
            <a:endParaRPr lang="zh-CN" altLang="en-US" sz="900" b="1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6" name="矩形: 圆角 95">
            <a:extLst>
              <a:ext uri="{FF2B5EF4-FFF2-40B4-BE49-F238E27FC236}">
                <a16:creationId xmlns:a16="http://schemas.microsoft.com/office/drawing/2014/main" id="{D4B9A599-7056-4E10-B259-6F32BCB83DF9}"/>
              </a:ext>
            </a:extLst>
          </p:cNvPr>
          <p:cNvSpPr/>
          <p:nvPr/>
        </p:nvSpPr>
        <p:spPr>
          <a:xfrm>
            <a:off x="5469995" y="2133839"/>
            <a:ext cx="698892" cy="380852"/>
          </a:xfrm>
          <a:prstGeom prst="roundRect">
            <a:avLst>
              <a:gd name="adj" fmla="val 0"/>
            </a:avLst>
          </a:prstGeom>
          <a:solidFill>
            <a:srgbClr val="152554"/>
          </a:solidFill>
          <a:ln w="12700">
            <a:solidFill>
              <a:srgbClr val="D1005D"/>
            </a:solidFill>
            <a:prstDash val="solid"/>
          </a:ln>
        </p:spPr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/>
            <a:endParaRPr lang="zh-CN" altLang="en-US" sz="900" b="1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cxnSp>
        <p:nvCxnSpPr>
          <p:cNvPr id="152" name="Connector: Curved 151">
            <a:extLst>
              <a:ext uri="{FF2B5EF4-FFF2-40B4-BE49-F238E27FC236}">
                <a16:creationId xmlns:a16="http://schemas.microsoft.com/office/drawing/2014/main" id="{D8554EC1-9D71-4FA0-9EE3-1C2416D62ED6}"/>
              </a:ext>
            </a:extLst>
          </p:cNvPr>
          <p:cNvCxnSpPr>
            <a:cxnSpLocks/>
            <a:stCxn id="146" idx="3"/>
          </p:cNvCxnSpPr>
          <p:nvPr/>
        </p:nvCxnSpPr>
        <p:spPr>
          <a:xfrm flipV="1">
            <a:off x="6168887" y="1118060"/>
            <a:ext cx="510318" cy="1206205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rgbClr val="D1005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152554"/>
          </a:fontRef>
        </p:style>
      </p:cxnSp>
      <p:cxnSp>
        <p:nvCxnSpPr>
          <p:cNvPr id="156" name="Connector: Curved 155">
            <a:extLst>
              <a:ext uri="{FF2B5EF4-FFF2-40B4-BE49-F238E27FC236}">
                <a16:creationId xmlns:a16="http://schemas.microsoft.com/office/drawing/2014/main" id="{4E9BA065-B9D2-45CD-A2DB-B829EDFD7106}"/>
              </a:ext>
            </a:extLst>
          </p:cNvPr>
          <p:cNvCxnSpPr>
            <a:cxnSpLocks/>
            <a:stCxn id="144" idx="3"/>
            <a:endCxn id="111" idx="1"/>
          </p:cNvCxnSpPr>
          <p:nvPr/>
        </p:nvCxnSpPr>
        <p:spPr>
          <a:xfrm>
            <a:off x="6168890" y="2929948"/>
            <a:ext cx="676776" cy="639352"/>
          </a:xfrm>
          <a:prstGeom prst="curvedConnector3">
            <a:avLst/>
          </a:prstGeom>
          <a:ln w="9525" cap="flat" cmpd="sng" algn="ctr">
            <a:solidFill>
              <a:srgbClr val="D1005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152554"/>
          </a:fontRef>
        </p:style>
      </p:cxnSp>
      <p:pic>
        <p:nvPicPr>
          <p:cNvPr id="159" name="Image 1" descr="preencoded.png">
            <a:extLst>
              <a:ext uri="{FF2B5EF4-FFF2-40B4-BE49-F238E27FC236}">
                <a16:creationId xmlns:a16="http://schemas.microsoft.com/office/drawing/2014/main" id="{5FF3DD00-CB40-4AC8-88E4-F7814EAADDB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904383" y="3035279"/>
            <a:ext cx="226793" cy="226793"/>
          </a:xfrm>
          <a:prstGeom prst="rect">
            <a:avLst/>
          </a:prstGeom>
        </p:spPr>
      </p:pic>
      <p:pic>
        <p:nvPicPr>
          <p:cNvPr id="160" name="Image 2" descr="preencoded.png">
            <a:extLst>
              <a:ext uri="{FF2B5EF4-FFF2-40B4-BE49-F238E27FC236}">
                <a16:creationId xmlns:a16="http://schemas.microsoft.com/office/drawing/2014/main" id="{C6B35C93-B40F-4A2A-80FF-919971AB266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130479" y="2628018"/>
            <a:ext cx="226793" cy="226793"/>
          </a:xfrm>
          <a:prstGeom prst="rect">
            <a:avLst/>
          </a:prstGeom>
        </p:spPr>
      </p:pic>
      <p:pic>
        <p:nvPicPr>
          <p:cNvPr id="161" name="Image 3" descr="preencoded.png">
            <a:extLst>
              <a:ext uri="{FF2B5EF4-FFF2-40B4-BE49-F238E27FC236}">
                <a16:creationId xmlns:a16="http://schemas.microsoft.com/office/drawing/2014/main" id="{DFA0D48D-A9B4-419C-946D-9BC1131218D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130479" y="3035279"/>
            <a:ext cx="226793" cy="226793"/>
          </a:xfrm>
          <a:prstGeom prst="rect">
            <a:avLst/>
          </a:prstGeom>
        </p:spPr>
      </p:pic>
      <p:pic>
        <p:nvPicPr>
          <p:cNvPr id="162" name="Image 4" descr="preencoded.png">
            <a:extLst>
              <a:ext uri="{FF2B5EF4-FFF2-40B4-BE49-F238E27FC236}">
                <a16:creationId xmlns:a16="http://schemas.microsoft.com/office/drawing/2014/main" id="{2C43498B-A593-4AB6-A48D-5A4F5E96F61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4163578" y="3035279"/>
            <a:ext cx="226793" cy="226793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CA52AAA2-E430-4DBB-B15F-0419DDA2657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903095" y="2240719"/>
            <a:ext cx="228081" cy="228081"/>
          </a:xfrm>
          <a:prstGeom prst="rect">
            <a:avLst/>
          </a:prstGeom>
        </p:spPr>
      </p:pic>
      <p:sp>
        <p:nvSpPr>
          <p:cNvPr id="184" name="Text 48">
            <a:extLst>
              <a:ext uri="{FF2B5EF4-FFF2-40B4-BE49-F238E27FC236}">
                <a16:creationId xmlns:a16="http://schemas.microsoft.com/office/drawing/2014/main" id="{72BCF498-7C27-452C-AF7D-43AE209534AA}"/>
              </a:ext>
            </a:extLst>
          </p:cNvPr>
          <p:cNvSpPr/>
          <p:nvPr/>
        </p:nvSpPr>
        <p:spPr>
          <a:xfrm>
            <a:off x="6770645" y="999188"/>
            <a:ext cx="1965960" cy="237744"/>
          </a:xfrm>
          <a:prstGeom prst="rect">
            <a:avLst/>
          </a:prstGeom>
          <a:solidFill>
            <a:srgbClr val="152554"/>
          </a:solidFill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 GATEWAY</a:t>
            </a:r>
            <a:endParaRPr lang="en-US" sz="900">
              <a:solidFill>
                <a:srgbClr val="FF4D94"/>
              </a:solidFill>
            </a:endParaRPr>
          </a:p>
        </p:txBody>
      </p:sp>
      <p:sp>
        <p:nvSpPr>
          <p:cNvPr id="187" name="Text 48">
            <a:extLst>
              <a:ext uri="{FF2B5EF4-FFF2-40B4-BE49-F238E27FC236}">
                <a16:creationId xmlns:a16="http://schemas.microsoft.com/office/drawing/2014/main" id="{2B509FC7-53A0-4338-A903-139DAF2EE5AB}"/>
              </a:ext>
            </a:extLst>
          </p:cNvPr>
          <p:cNvSpPr/>
          <p:nvPr/>
        </p:nvSpPr>
        <p:spPr>
          <a:xfrm>
            <a:off x="6770645" y="4128187"/>
            <a:ext cx="1965960" cy="237744"/>
          </a:xfrm>
          <a:prstGeom prst="rect">
            <a:avLst/>
          </a:prstGeom>
          <a:solidFill>
            <a:srgbClr val="15255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  (DESIGN TIME)</a:t>
            </a:r>
            <a:endParaRPr lang="en-US" sz="900">
              <a:solidFill>
                <a:srgbClr val="FF4D94"/>
              </a:solidFill>
            </a:endParaRPr>
          </a:p>
        </p:txBody>
      </p:sp>
      <p:sp>
        <p:nvSpPr>
          <p:cNvPr id="190" name="Text 48">
            <a:extLst>
              <a:ext uri="{FF2B5EF4-FFF2-40B4-BE49-F238E27FC236}">
                <a16:creationId xmlns:a16="http://schemas.microsoft.com/office/drawing/2014/main" id="{C2063A68-BC78-49A8-BD69-42192FEE46D1}"/>
              </a:ext>
            </a:extLst>
          </p:cNvPr>
          <p:cNvSpPr/>
          <p:nvPr/>
        </p:nvSpPr>
        <p:spPr>
          <a:xfrm>
            <a:off x="6770645" y="4476905"/>
            <a:ext cx="1965960" cy="237744"/>
          </a:xfrm>
          <a:prstGeom prst="rect">
            <a:avLst/>
          </a:prstGeom>
          <a:solidFill>
            <a:srgbClr val="15255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</a:t>
            </a:r>
            <a:endParaRPr lang="en-US" sz="900">
              <a:solidFill>
                <a:srgbClr val="FF4D94"/>
              </a:solidFill>
            </a:endParaRPr>
          </a:p>
        </p:txBody>
      </p:sp>
      <p:cxnSp>
        <p:nvCxnSpPr>
          <p:cNvPr id="191" name="Connector: Curved 190">
            <a:extLst>
              <a:ext uri="{FF2B5EF4-FFF2-40B4-BE49-F238E27FC236}">
                <a16:creationId xmlns:a16="http://schemas.microsoft.com/office/drawing/2014/main" id="{506B6A21-FEBF-4401-A508-B19335145D44}"/>
              </a:ext>
            </a:extLst>
          </p:cNvPr>
          <p:cNvCxnSpPr>
            <a:cxnSpLocks/>
            <a:stCxn id="161" idx="1"/>
          </p:cNvCxnSpPr>
          <p:nvPr/>
        </p:nvCxnSpPr>
        <p:spPr>
          <a:xfrm>
            <a:off x="5357272" y="3148676"/>
            <a:ext cx="1321933" cy="1098383"/>
          </a:xfrm>
          <a:prstGeom prst="curvedConnector3">
            <a:avLst>
              <a:gd name="adj1" fmla="val 68403"/>
            </a:avLst>
          </a:prstGeom>
          <a:ln w="9525" cap="flat" cmpd="sng" algn="ctr">
            <a:solidFill>
              <a:srgbClr val="D1005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152554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BFEF023-8432-44B7-A5F8-D8695E442238}"/>
              </a:ext>
            </a:extLst>
          </p:cNvPr>
          <p:cNvSpPr/>
          <p:nvPr/>
        </p:nvSpPr>
        <p:spPr>
          <a:xfrm>
            <a:off x="5424155" y="2178564"/>
            <a:ext cx="496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</a:t>
            </a:r>
          </a:p>
          <a:p>
            <a:pPr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SDK</a:t>
            </a:r>
            <a:endParaRPr lang="zh-CN" altLang="en-US" sz="900" b="1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6" name="Freeform 35">
            <a:extLst>
              <a:ext uri="{FF2B5EF4-FFF2-40B4-BE49-F238E27FC236}">
                <a16:creationId xmlns:a16="http://schemas.microsoft.com/office/drawing/2014/main" id="{19FAE998-AC17-4C05-BB59-7C063DBD0F96}"/>
              </a:ext>
            </a:extLst>
          </p:cNvPr>
          <p:cNvSpPr/>
          <p:nvPr/>
        </p:nvSpPr>
        <p:spPr>
          <a:xfrm>
            <a:off x="8128868" y="1052685"/>
            <a:ext cx="575532" cy="158991"/>
          </a:xfrm>
          <a:custGeom>
            <a:avLst/>
            <a:gdLst/>
            <a:ahLst/>
            <a:cxnLst/>
            <a:rect l="l" t="t" r="r" b="b"/>
            <a:pathLst>
              <a:path w="1676423" h="463112">
                <a:moveTo>
                  <a:pt x="0" y="0"/>
                </a:moveTo>
                <a:lnTo>
                  <a:pt x="1676424" y="0"/>
                </a:lnTo>
                <a:lnTo>
                  <a:pt x="1676424" y="463112"/>
                </a:lnTo>
                <a:lnTo>
                  <a:pt x="0" y="463112"/>
                </a:lnTo>
                <a:lnTo>
                  <a:pt x="0" y="0"/>
                </a:lnTo>
                <a:close/>
              </a:path>
            </a:pathLst>
          </a:custGeom>
          <a:blipFill>
            <a:blip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85800">
              <a:defRPr/>
            </a:pPr>
            <a:endParaRPr lang="en-GB" sz="900">
              <a:solidFill>
                <a:prstClr val="black"/>
              </a:solidFill>
              <a:latin typeface="Aptos"/>
            </a:endParaRPr>
          </a:p>
        </p:txBody>
      </p:sp>
      <p:pic>
        <p:nvPicPr>
          <p:cNvPr id="217" name="Picture 216" descr="Iquall Networks">
            <a:extLst>
              <a:ext uri="{FF2B5EF4-FFF2-40B4-BE49-F238E27FC236}">
                <a16:creationId xmlns:a16="http://schemas.microsoft.com/office/drawing/2014/main" id="{FDB3E6E9-600C-4125-BB27-04375714A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1436" y="4287900"/>
            <a:ext cx="1270692" cy="18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52554"/>
                </a:solidFill>
              </a14:hiddenFill>
            </a:ext>
          </a:extLst>
        </p:spPr>
      </p:pic>
      <p:pic>
        <p:nvPicPr>
          <p:cNvPr id="218" name="Picture 12" descr="Visual identity | Università degli Studi di Milano Statale">
            <a:extLst>
              <a:ext uri="{FF2B5EF4-FFF2-40B4-BE49-F238E27FC236}">
                <a16:creationId xmlns:a16="http://schemas.microsoft.com/office/drawing/2014/main" id="{0CB051B2-86A4-4B2F-AA03-2D81473A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74531" y="3756028"/>
            <a:ext cx="475325" cy="15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52554"/>
                </a:solidFill>
              </a14:hiddenFill>
            </a:ext>
          </a:extLst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BC3C6F33-3A13-4A08-88D9-B00D8338CD9D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8117413" y="4539890"/>
            <a:ext cx="607642" cy="113339"/>
          </a:xfrm>
          <a:prstGeom prst="rect">
            <a:avLst/>
          </a:prstGeom>
        </p:spPr>
      </p:pic>
      <p:sp>
        <p:nvSpPr>
          <p:cNvPr id="220" name="Freeform 28">
            <a:extLst>
              <a:ext uri="{FF2B5EF4-FFF2-40B4-BE49-F238E27FC236}">
                <a16:creationId xmlns:a16="http://schemas.microsoft.com/office/drawing/2014/main" id="{B9CA26B0-AA11-4ED3-BB11-121E99298AA0}"/>
              </a:ext>
            </a:extLst>
          </p:cNvPr>
          <p:cNvSpPr>
            <a:spLocks noChangeAspect="1"/>
          </p:cNvSpPr>
          <p:nvPr/>
        </p:nvSpPr>
        <p:spPr>
          <a:xfrm>
            <a:off x="8293470" y="3413771"/>
            <a:ext cx="328676" cy="286770"/>
          </a:xfrm>
          <a:custGeom>
            <a:avLst/>
            <a:gdLst/>
            <a:ahLst/>
            <a:cxnLst/>
            <a:rect l="l" t="t" r="r" b="b"/>
            <a:pathLst>
              <a:path w="781181" h="681580">
                <a:moveTo>
                  <a:pt x="0" y="0"/>
                </a:moveTo>
                <a:lnTo>
                  <a:pt x="781180" y="0"/>
                </a:lnTo>
                <a:lnTo>
                  <a:pt x="781180" y="681581"/>
                </a:lnTo>
                <a:lnTo>
                  <a:pt x="0" y="681581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screen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85800">
              <a:defRPr/>
            </a:pPr>
            <a:endParaRPr lang="en-GB" sz="900">
              <a:solidFill>
                <a:prstClr val="black"/>
              </a:solidFill>
              <a:latin typeface="Aptos"/>
            </a:endParaRPr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9</a:t>
            </a:fld>
            <a:endParaRPr lang="en-GB" sz="900">
              <a:solidFill>
                <a:srgbClr val="FFFFFF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CBCC300-007F-4771-BDBE-61299E031CE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5866" y="3777345"/>
            <a:ext cx="707270" cy="15463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DD76955-6CC0-455D-9060-885DC88FB8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14876" y="3215139"/>
            <a:ext cx="707270" cy="15463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525375F-2CB6-4739-A11A-510AF7BB5049}"/>
              </a:ext>
            </a:extLst>
          </p:cNvPr>
          <p:cNvPicPr>
            <a:picLocks noChangeAspect="1"/>
          </p:cNvPicPr>
          <p:nvPr/>
        </p:nvPicPr>
        <p:blipFill>
          <a:blip r:embed="rId17">
            <a:lum bright="70000" contrast="-70000"/>
          </a:blip>
          <a:stretch>
            <a:fillRect/>
          </a:stretch>
        </p:blipFill>
        <p:spPr>
          <a:xfrm>
            <a:off x="2988326" y="2618920"/>
            <a:ext cx="977495" cy="38187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4103C34-1F7F-4F69-AF0F-503315154819}"/>
              </a:ext>
            </a:extLst>
          </p:cNvPr>
          <p:cNvSpPr/>
          <p:nvPr/>
        </p:nvSpPr>
        <p:spPr>
          <a:xfrm>
            <a:off x="5436779" y="2638639"/>
            <a:ext cx="80676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</a:p>
          <a:p>
            <a:pPr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</a:t>
            </a:r>
          </a:p>
          <a:p>
            <a:pPr defTabSz="914034"/>
            <a:r>
              <a:rPr lang="en-US" altLang="zh-CN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zh-CN" altLang="en-US" sz="900" b="1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1BBBB6B8-F6EF-4D23-8284-1DCAB6D5C97D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1790554" y="2766247"/>
            <a:ext cx="607642" cy="113339"/>
          </a:xfrm>
          <a:prstGeom prst="rect">
            <a:avLst/>
          </a:prstGeom>
        </p:spPr>
      </p:pic>
      <p:pic>
        <p:nvPicPr>
          <p:cNvPr id="1028" name="Picture 4" descr="Amdocs logo in transparent PNG and vectorized SVG formats">
            <a:extLst>
              <a:ext uri="{FF2B5EF4-FFF2-40B4-BE49-F238E27FC236}">
                <a16:creationId xmlns:a16="http://schemas.microsoft.com/office/drawing/2014/main" id="{57E945E0-0289-46E6-9957-EEEB03F6D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05" y="2717977"/>
            <a:ext cx="232802" cy="17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Picture 4" descr="Amdocs logo in transparent PNG and vectorized SVG formats">
            <a:extLst>
              <a:ext uri="{FF2B5EF4-FFF2-40B4-BE49-F238E27FC236}">
                <a16:creationId xmlns:a16="http://schemas.microsoft.com/office/drawing/2014/main" id="{146F987B-406F-49C9-BE2F-3284B78F2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870" y="2168005"/>
            <a:ext cx="280381" cy="20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Fabric: How It Works 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1512413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vendors. One runtime. No bespoke integrations.</a:t>
            </a:r>
            <a:endParaRPr lang="en-US" sz="125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EDFAC33-4474-4D32-B40D-7EA30F52EBAD}"/>
              </a:ext>
            </a:extLst>
          </p:cNvPr>
          <p:cNvGrpSpPr/>
          <p:nvPr/>
        </p:nvGrpSpPr>
        <p:grpSpPr>
          <a:xfrm>
            <a:off x="411480" y="1783080"/>
            <a:ext cx="8321040" cy="274320"/>
            <a:chOff x="411480" y="1783080"/>
            <a:chExt cx="8321040" cy="274320"/>
          </a:xfrm>
        </p:grpSpPr>
        <p:sp>
          <p:nvSpPr>
            <p:cNvPr id="13" name="Shape 11"/>
            <p:cNvSpPr/>
            <p:nvPr/>
          </p:nvSpPr>
          <p:spPr>
            <a:xfrm>
              <a:off x="411480" y="1783080"/>
              <a:ext cx="8321040" cy="274320"/>
            </a:xfrm>
            <a:prstGeom prst="rect">
              <a:avLst/>
            </a:prstGeom>
            <a:solidFill>
              <a:srgbClr val="1B2A57"/>
            </a:solidFill>
            <a:ln w="6350">
              <a:solidFill>
                <a:srgbClr val="D1005D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11480" y="1783080"/>
              <a:ext cx="8321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Trusted Data Gateway (TDG) · Secure Passport -MEF.DEV · All traffic goes through the fabric</a:t>
              </a:r>
              <a:endParaRPr lang="en-US" sz="950"/>
            </a:p>
          </p:txBody>
        </p:sp>
      </p:grpSp>
      <p:sp>
        <p:nvSpPr>
          <p:cNvPr id="15" name="Shape 13"/>
          <p:cNvSpPr/>
          <p:nvPr/>
        </p:nvSpPr>
        <p:spPr>
          <a:xfrm>
            <a:off x="411480" y="2130552"/>
            <a:ext cx="2682240" cy="310896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157984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Center · OpenAN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230880" y="2130552"/>
            <a:ext cx="2682240" cy="310896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2320" y="2157984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Center · OpenAN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050280" y="2130552"/>
            <a:ext cx="2682240" cy="310896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1720" y="2157984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Observability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11480" y="2496312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532888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02920" y="2715768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 · capabilities · skills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411480" y="2944368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980944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502920" y="3163824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endpoints · schemas</a:t>
            </a:r>
            <a:endParaRPr lang="en-US" sz="750"/>
          </a:p>
        </p:txBody>
      </p:sp>
      <p:sp>
        <p:nvSpPr>
          <p:cNvPr id="27" name="Shape 25"/>
          <p:cNvSpPr/>
          <p:nvPr/>
        </p:nvSpPr>
        <p:spPr>
          <a:xfrm>
            <a:off x="411480" y="3392424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429000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Registry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02920" y="3611880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resources · domains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2682240" cy="411480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877056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 ★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4059936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TMF-semantics · versioned · HVS-scoped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3230880" y="2496312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22320" y="2532888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Playbook</a:t>
            </a:r>
          </a:p>
        </p:txBody>
      </p:sp>
      <p:sp>
        <p:nvSpPr>
          <p:cNvPr id="35" name="Text 33"/>
          <p:cNvSpPr/>
          <p:nvPr/>
        </p:nvSpPr>
        <p:spPr>
          <a:xfrm>
            <a:off x="3322320" y="2715768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policy</a:t>
            </a:r>
            <a:endParaRPr lang="en-US" sz="75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C852847-86FF-4AF2-878E-03EF63D70C16}"/>
              </a:ext>
            </a:extLst>
          </p:cNvPr>
          <p:cNvGrpSpPr/>
          <p:nvPr/>
        </p:nvGrpSpPr>
        <p:grpSpPr>
          <a:xfrm>
            <a:off x="3230880" y="2944368"/>
            <a:ext cx="2682240" cy="411480"/>
            <a:chOff x="3230880" y="2944368"/>
            <a:chExt cx="2682240" cy="411480"/>
          </a:xfrm>
        </p:grpSpPr>
        <p:sp>
          <p:nvSpPr>
            <p:cNvPr id="36" name="Shape 34"/>
            <p:cNvSpPr/>
            <p:nvPr/>
          </p:nvSpPr>
          <p:spPr>
            <a:xfrm>
              <a:off x="3230880" y="2944368"/>
              <a:ext cx="2682240" cy="411480"/>
            </a:xfrm>
            <a:prstGeom prst="rect">
              <a:avLst/>
            </a:prstGeom>
            <a:solidFill>
              <a:srgbClr val="152554"/>
            </a:solidFill>
            <a:ln w="6350">
              <a:solidFill>
                <a:srgbClr val="2E407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322320" y="2980944"/>
              <a:ext cx="2545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FF4D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BPMN Workflows ★</a:t>
              </a:r>
              <a:endParaRPr lang="en-US" sz="900">
                <a:solidFill>
                  <a:srgbClr val="FF4D94"/>
                </a:solidFill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3322320" y="3163824"/>
              <a:ext cx="25450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>
                  <a:solidFill>
                    <a:srgbClr val="9AA8D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MEF.DEV Process → Task-T</a:t>
              </a:r>
              <a:endParaRPr lang="en-US" sz="750"/>
            </a:p>
          </p:txBody>
        </p:sp>
      </p:grpSp>
      <p:sp>
        <p:nvSpPr>
          <p:cNvPr id="39" name="Shape 37"/>
          <p:cNvSpPr/>
          <p:nvPr/>
        </p:nvSpPr>
        <p:spPr>
          <a:xfrm>
            <a:off x="3230880" y="3392424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22320" y="3429000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 Task Corpus</a:t>
            </a:r>
          </a:p>
        </p:txBody>
      </p:sp>
      <p:sp>
        <p:nvSpPr>
          <p:cNvPr id="41" name="Text 39"/>
          <p:cNvSpPr/>
          <p:nvPr/>
        </p:nvSpPr>
        <p:spPr>
          <a:xfrm>
            <a:off x="3322320" y="3611880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IG1453 template-based</a:t>
            </a:r>
            <a:endParaRPr lang="en-US" sz="750"/>
          </a:p>
        </p:txBody>
      </p:sp>
      <p:sp>
        <p:nvSpPr>
          <p:cNvPr id="42" name="Shape 40"/>
          <p:cNvSpPr/>
          <p:nvPr/>
        </p:nvSpPr>
        <p:spPr>
          <a:xfrm>
            <a:off x="3230880" y="3840480"/>
            <a:ext cx="2682240" cy="411480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22320" y="3877056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★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3322320" y="4059936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· TIO · BPMN · Task-T history</a:t>
            </a:r>
            <a:endParaRPr lang="en-US" sz="750"/>
          </a:p>
        </p:txBody>
      </p:sp>
      <p:sp>
        <p:nvSpPr>
          <p:cNvPr id="45" name="Shape 43"/>
          <p:cNvSpPr/>
          <p:nvPr/>
        </p:nvSpPr>
        <p:spPr>
          <a:xfrm>
            <a:off x="6050280" y="2496312"/>
            <a:ext cx="2682240" cy="41148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41720" y="2532888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6141720" y="2715768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· replayable</a:t>
            </a:r>
            <a:endParaRPr lang="en-US" sz="75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242B3B0-2706-4CCF-9722-C44A03683E62}"/>
              </a:ext>
            </a:extLst>
          </p:cNvPr>
          <p:cNvGrpSpPr/>
          <p:nvPr/>
        </p:nvGrpSpPr>
        <p:grpSpPr>
          <a:xfrm>
            <a:off x="6050280" y="2944368"/>
            <a:ext cx="2682240" cy="411480"/>
            <a:chOff x="6050280" y="2944368"/>
            <a:chExt cx="2682240" cy="411480"/>
          </a:xfrm>
        </p:grpSpPr>
        <p:sp>
          <p:nvSpPr>
            <p:cNvPr id="48" name="Shape 46"/>
            <p:cNvSpPr/>
            <p:nvPr/>
          </p:nvSpPr>
          <p:spPr>
            <a:xfrm>
              <a:off x="6050280" y="2944368"/>
              <a:ext cx="2682240" cy="411480"/>
            </a:xfrm>
            <a:prstGeom prst="rect">
              <a:avLst/>
            </a:prstGeom>
            <a:solidFill>
              <a:srgbClr val="1B2A57"/>
            </a:solidFill>
            <a:ln w="6350">
              <a:solidFill>
                <a:srgbClr val="2E407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141720" y="2980944"/>
              <a:ext cx="2545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FF4D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Design-time Eval ★</a:t>
              </a:r>
              <a:endParaRPr lang="en-US" sz="900"/>
            </a:p>
          </p:txBody>
        </p:sp>
        <p:sp>
          <p:nvSpPr>
            <p:cNvPr id="50" name="Text 48"/>
            <p:cNvSpPr/>
            <p:nvPr/>
          </p:nvSpPr>
          <p:spPr>
            <a:xfrm>
              <a:off x="6141720" y="3163824"/>
              <a:ext cx="25450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>
                  <a:solidFill>
                    <a:srgbClr val="9AA8D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Iquall · pre-deployment validation</a:t>
              </a:r>
              <a:endParaRPr lang="en-US" sz="750"/>
            </a:p>
          </p:txBody>
        </p:sp>
      </p:grpSp>
      <p:sp>
        <p:nvSpPr>
          <p:cNvPr id="51" name="Shape 49"/>
          <p:cNvSpPr/>
          <p:nvPr/>
        </p:nvSpPr>
        <p:spPr>
          <a:xfrm>
            <a:off x="6050280" y="3392424"/>
            <a:ext cx="2682240" cy="411480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41720" y="3429000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Eval ★</a:t>
            </a:r>
            <a:endParaRPr lang="en-US" sz="900"/>
          </a:p>
        </p:txBody>
      </p:sp>
      <p:sp>
        <p:nvSpPr>
          <p:cNvPr id="53" name="Text 51"/>
          <p:cNvSpPr/>
          <p:nvPr/>
        </p:nvSpPr>
        <p:spPr>
          <a:xfrm>
            <a:off x="6141720" y="3611880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err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</a:t>
            </a: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Phoenix</a:t>
            </a:r>
            <a:endParaRPr lang="en-US" sz="750"/>
          </a:p>
        </p:txBody>
      </p:sp>
      <p:sp>
        <p:nvSpPr>
          <p:cNvPr id="54" name="Shape 52"/>
          <p:cNvSpPr/>
          <p:nvPr/>
        </p:nvSpPr>
        <p:spPr>
          <a:xfrm>
            <a:off x="6050280" y="3840480"/>
            <a:ext cx="2682240" cy="411480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41720" y="3877056"/>
            <a:ext cx="254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★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141720" y="4059936"/>
            <a:ext cx="254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· per-decision explainability</a:t>
            </a:r>
            <a:endParaRPr lang="en-US" sz="750"/>
          </a:p>
        </p:txBody>
      </p:sp>
      <p:sp>
        <p:nvSpPr>
          <p:cNvPr id="57" name="Shape 55"/>
          <p:cNvSpPr/>
          <p:nvPr/>
        </p:nvSpPr>
        <p:spPr>
          <a:xfrm>
            <a:off x="411480" y="4224528"/>
            <a:ext cx="7086600" cy="310896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2920" y="422452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 · observes all fabric components · flags policy violations · acts within authority thresholds -RADCOM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7543800" y="4224528"/>
            <a:ext cx="1188720" cy="310896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4380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850"/>
          </a:p>
        </p:txBody>
      </p:sp>
      <p:sp>
        <p:nvSpPr>
          <p:cNvPr id="61" name="Text 59"/>
          <p:cNvSpPr/>
          <p:nvPr/>
        </p:nvSpPr>
        <p:spPr>
          <a:xfrm>
            <a:off x="411480" y="4572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 in Phase III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1" descr="preencoded.png">
            <a:extLst>
              <a:ext uri="{FF2B5EF4-FFF2-40B4-BE49-F238E27FC236}">
                <a16:creationId xmlns:a16="http://schemas.microsoft.com/office/drawing/2014/main" id="{08F5818B-3E13-49DD-A013-969DAFAC39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518490" y="3933727"/>
            <a:ext cx="226793" cy="226793"/>
          </a:xfrm>
          <a:prstGeom prst="rect">
            <a:avLst/>
          </a:prstGeom>
        </p:spPr>
      </p:pic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A37C82E1-714A-4A73-B885-90E610CD8CF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7026391" y="4281199"/>
            <a:ext cx="226793" cy="226793"/>
          </a:xfrm>
          <a:prstGeom prst="rect">
            <a:avLst/>
          </a:prstGeom>
        </p:spPr>
      </p:pic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4B38ECA8-94E9-4376-9BF8-1082AFEF5FD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8358542" y="2171742"/>
            <a:ext cx="226793" cy="22679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4F8BC42-EAB2-495C-9D77-6BC0B8A90B71}"/>
              </a:ext>
            </a:extLst>
          </p:cNvPr>
          <p:cNvGrpSpPr/>
          <p:nvPr/>
        </p:nvGrpSpPr>
        <p:grpSpPr>
          <a:xfrm>
            <a:off x="411480" y="854045"/>
            <a:ext cx="8330306" cy="566928"/>
            <a:chOff x="411480" y="1143000"/>
            <a:chExt cx="8330306" cy="566928"/>
          </a:xfrm>
          <a:solidFill>
            <a:srgbClr val="D1005D"/>
          </a:solidFill>
        </p:grpSpPr>
        <p:sp>
          <p:nvSpPr>
            <p:cNvPr id="5" name="Shape 3"/>
            <p:cNvSpPr/>
            <p:nvPr/>
          </p:nvSpPr>
          <p:spPr>
            <a:xfrm>
              <a:off x="420746" y="1188720"/>
              <a:ext cx="1280160" cy="475488"/>
            </a:xfrm>
            <a:prstGeom prst="rect">
              <a:avLst/>
            </a:prstGeom>
            <a:grpFill/>
            <a:ln w="12700">
              <a:solidFill>
                <a:srgbClr val="2E407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11480" y="1188720"/>
              <a:ext cx="1280160" cy="47548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(Initiator)</a:t>
              </a:r>
              <a:endParaRPr lang="en-US" sz="900"/>
            </a:p>
          </p:txBody>
        </p:sp>
        <p:sp>
          <p:nvSpPr>
            <p:cNvPr id="7" name="Shape 5"/>
            <p:cNvSpPr/>
            <p:nvPr/>
          </p:nvSpPr>
          <p:spPr>
            <a:xfrm>
              <a:off x="7461626" y="1188720"/>
              <a:ext cx="1280160" cy="475488"/>
            </a:xfrm>
            <a:prstGeom prst="rect">
              <a:avLst/>
            </a:prstGeom>
            <a:grpFill/>
            <a:ln w="12700">
              <a:solidFill>
                <a:srgbClr val="2E407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452360" y="1188720"/>
              <a:ext cx="1280160" cy="47548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B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(Executor)</a:t>
              </a:r>
              <a:endParaRPr lang="en-US" sz="900"/>
            </a:p>
          </p:txBody>
        </p:sp>
        <p:sp>
          <p:nvSpPr>
            <p:cNvPr id="9" name="Shape 7"/>
            <p:cNvSpPr/>
            <p:nvPr/>
          </p:nvSpPr>
          <p:spPr>
            <a:xfrm>
              <a:off x="3017520" y="1143000"/>
              <a:ext cx="3108960" cy="566928"/>
            </a:xfrm>
            <a:prstGeom prst="rect">
              <a:avLst/>
            </a:prstGeom>
            <a:grpFill/>
            <a:ln w="19050">
              <a:solidFill>
                <a:srgbClr val="D1005D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26786" y="1161288"/>
              <a:ext cx="3108960" cy="5303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A2A-T</a:t>
              </a:r>
              <a:endParaRPr lang="en-US" sz="12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DCE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Task-T · Event-T · Negotiation-T</a:t>
              </a:r>
              <a:endParaRPr lang="en-US" sz="1200"/>
            </a:p>
            <a:p>
              <a:pPr marL="0" indent="0" algn="ctr">
                <a:buNone/>
              </a:pPr>
              <a:r>
                <a:rPr lang="en-US" sz="750" i="1">
                  <a:solidFill>
                    <a:srgbClr val="9AA8D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LF A2A Extension · IG1453 · SDK</a:t>
              </a:r>
              <a:endParaRPr lang="en-US" sz="1200"/>
            </a:p>
          </p:txBody>
        </p:sp>
        <p:sp>
          <p:nvSpPr>
            <p:cNvPr id="11" name="Shape 9"/>
            <p:cNvSpPr/>
            <p:nvPr/>
          </p:nvSpPr>
          <p:spPr>
            <a:xfrm>
              <a:off x="1691640" y="1426464"/>
              <a:ext cx="1325880" cy="0"/>
            </a:xfrm>
            <a:prstGeom prst="line">
              <a:avLst/>
            </a:prstGeom>
            <a:grpFill/>
            <a:ln w="25400">
              <a:solidFill>
                <a:srgbClr val="D1005D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6126480" y="1426464"/>
              <a:ext cx="1325880" cy="0"/>
            </a:xfrm>
            <a:prstGeom prst="line">
              <a:avLst/>
            </a:prstGeom>
            <a:grpFill/>
            <a:ln w="25400">
              <a:solidFill>
                <a:srgbClr val="D1005D"/>
              </a:solidFill>
              <a:prstDash val="solid"/>
              <a:tailEnd type="triangle"/>
            </a:ln>
          </p:spPr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86AEBBD9-7D63-46F0-B6FE-D31E5943B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152554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flipH="1">
              <a:off x="5745283" y="1321567"/>
              <a:ext cx="228081" cy="228081"/>
            </a:xfrm>
            <a:prstGeom prst="rect">
              <a:avLst/>
            </a:prstGeom>
            <a:grpFill/>
          </p:spPr>
        </p:pic>
      </p:grpSp>
      <p:pic>
        <p:nvPicPr>
          <p:cNvPr id="76" name="Image 2" descr="preencoded.png">
            <a:extLst>
              <a:ext uri="{FF2B5EF4-FFF2-40B4-BE49-F238E27FC236}">
                <a16:creationId xmlns:a16="http://schemas.microsoft.com/office/drawing/2014/main" id="{99B8FD66-82B4-4C99-8DFD-84BADFCFE88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15255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5550071" y="2168032"/>
            <a:ext cx="226793" cy="226793"/>
          </a:xfrm>
          <a:prstGeom prst="rect">
            <a:avLst/>
          </a:prstGeom>
        </p:spPr>
      </p:pic>
      <p:sp>
        <p:nvSpPr>
          <p:cNvPr id="77" name="Cylinder 76">
            <a:extLst>
              <a:ext uri="{FF2B5EF4-FFF2-40B4-BE49-F238E27FC236}">
                <a16:creationId xmlns:a16="http://schemas.microsoft.com/office/drawing/2014/main" id="{3E54CD0F-1EB1-4A31-9569-AEA1B0593F89}"/>
              </a:ext>
            </a:extLst>
          </p:cNvPr>
          <p:cNvSpPr/>
          <p:nvPr/>
        </p:nvSpPr>
        <p:spPr>
          <a:xfrm>
            <a:off x="2888811" y="2222359"/>
            <a:ext cx="101588" cy="125674"/>
          </a:xfrm>
          <a:prstGeom prst="can">
            <a:avLst/>
          </a:prstGeom>
          <a:solidFill>
            <a:srgbClr val="D1005D"/>
          </a:solidFill>
        </p:spPr>
        <p:style>
          <a:lnRef idx="1">
            <a:srgbClr val="152554"/>
          </a:lnRef>
          <a:fillRef idx="3">
            <a:srgbClr val="152554"/>
          </a:fillRef>
          <a:effectRef idx="2">
            <a:srgbClr val="152554"/>
          </a:effectRef>
          <a:fontRef idx="minor">
            <a:srgbClr val="152554"/>
          </a:fontRef>
        </p:style>
        <p:txBody>
          <a:bodyPr lIns="0" rIns="0" rtlCol="0" anchor="ctr"/>
          <a:lstStyle/>
          <a:p>
            <a:pPr algn="ctr"/>
            <a:endParaRPr sz="600">
              <a:latin typeface="+mj-lt"/>
            </a:endParaRPr>
          </a:p>
        </p:txBody>
      </p:sp>
      <p:sp>
        <p:nvSpPr>
          <p:cNvPr id="78" name="Cylinder 77">
            <a:extLst>
              <a:ext uri="{FF2B5EF4-FFF2-40B4-BE49-F238E27FC236}">
                <a16:creationId xmlns:a16="http://schemas.microsoft.com/office/drawing/2014/main" id="{586E43D6-5075-4EE1-9CF0-47F7AB148BD3}"/>
              </a:ext>
            </a:extLst>
          </p:cNvPr>
          <p:cNvSpPr/>
          <p:nvPr/>
        </p:nvSpPr>
        <p:spPr>
          <a:xfrm>
            <a:off x="2711836" y="2222359"/>
            <a:ext cx="101588" cy="125674"/>
          </a:xfrm>
          <a:prstGeom prst="can">
            <a:avLst/>
          </a:prstGeom>
          <a:solidFill>
            <a:srgbClr val="BCBFD2"/>
          </a:solidFill>
        </p:spPr>
        <p:style>
          <a:lnRef idx="1">
            <a:srgbClr val="152554"/>
          </a:lnRef>
          <a:fillRef idx="3">
            <a:srgbClr val="152554"/>
          </a:fillRef>
          <a:effectRef idx="2">
            <a:srgbClr val="152554"/>
          </a:effectRef>
          <a:fontRef idx="minor">
            <a:srgbClr val="152554"/>
          </a:fontRef>
        </p:style>
        <p:txBody>
          <a:bodyPr lIns="0" rIns="0" rtlCol="0" anchor="ctr"/>
          <a:lstStyle/>
          <a:p>
            <a:pPr algn="ctr"/>
            <a:endParaRPr sz="600">
              <a:latin typeface="+mj-lt"/>
            </a:endParaRPr>
          </a:p>
        </p:txBody>
      </p:sp>
      <p:sp>
        <p:nvSpPr>
          <p:cNvPr id="79" name="Cylinder 78">
            <a:extLst>
              <a:ext uri="{FF2B5EF4-FFF2-40B4-BE49-F238E27FC236}">
                <a16:creationId xmlns:a16="http://schemas.microsoft.com/office/drawing/2014/main" id="{70C9784B-3453-4FF5-BB90-CCC0A6BE4A83}"/>
              </a:ext>
            </a:extLst>
          </p:cNvPr>
          <p:cNvSpPr/>
          <p:nvPr/>
        </p:nvSpPr>
        <p:spPr>
          <a:xfrm>
            <a:off x="2534860" y="2222359"/>
            <a:ext cx="101588" cy="125674"/>
          </a:xfrm>
          <a:prstGeom prst="can">
            <a:avLst/>
          </a:prstGeom>
          <a:solidFill>
            <a:srgbClr val="ED7D31"/>
          </a:solidFill>
        </p:spPr>
        <p:style>
          <a:lnRef idx="1">
            <a:srgbClr val="152554"/>
          </a:lnRef>
          <a:fillRef idx="3">
            <a:srgbClr val="152554"/>
          </a:fillRef>
          <a:effectRef idx="2">
            <a:srgbClr val="152554"/>
          </a:effectRef>
          <a:fontRef idx="minor">
            <a:srgbClr val="152554"/>
          </a:fontRef>
        </p:style>
        <p:txBody>
          <a:bodyPr lIns="0" rIns="0" rtlCol="0" anchor="ctr"/>
          <a:lstStyle/>
          <a:p>
            <a:pPr algn="ctr"/>
            <a:endParaRPr sz="600">
              <a:latin typeface="+mj-lt"/>
            </a:endParaRPr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10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28F17-9A9C-4F60-8C01-19CDDDD4496D}"/>
              </a:ext>
            </a:extLst>
          </p:cNvPr>
          <p:cNvSpPr/>
          <p:nvPr/>
        </p:nvSpPr>
        <p:spPr>
          <a:xfrm>
            <a:off x="1" y="1060703"/>
            <a:ext cx="1251526" cy="3741950"/>
          </a:xfrm>
          <a:prstGeom prst="rect">
            <a:avLst/>
          </a:prstGeom>
          <a:solidFill>
            <a:srgbClr val="010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9CB2F5-3FC7-4531-B424-DBE5F47315CD}"/>
              </a:ext>
            </a:extLst>
          </p:cNvPr>
          <p:cNvSpPr/>
          <p:nvPr/>
        </p:nvSpPr>
        <p:spPr>
          <a:xfrm>
            <a:off x="7486073" y="905256"/>
            <a:ext cx="1657925" cy="3880558"/>
          </a:xfrm>
          <a:prstGeom prst="rect">
            <a:avLst/>
          </a:prstGeom>
          <a:solidFill>
            <a:srgbClr val="010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A2A-T works inside the Fabric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TDG enforces the rules of the gate (GB1087). A2A-T defines the payload and protocol flowing through it.</a:t>
            </a:r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3A1C2-9F4D-4E8A-B1C3-0A1B2C3D4E5F}" type="slidenum"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5752D-D502-44CF-B3D9-E2F28BB9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61" y="1060703"/>
            <a:ext cx="6618901" cy="3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1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/ Without A2A-T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agents. Same conversation. Different outcome.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950208" cy="3200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50208" cy="347472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A2A-T · Standard LF A2A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3950208" cy="347472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09728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A2A-T · Standard LF A2A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only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777240" y="1755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 receiving end interprets — or guesses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intent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pre-route or validate before LLM call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deferred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777240" y="26700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loops at runtime — tokens, latency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 token overhead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777240" y="31272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 vs A2A-T equivalent, measured on wire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output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777240" y="35844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state, different result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cross-vendor audit trail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77240" y="4041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recorded per-agent, not across the chain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599432" y="1097280"/>
            <a:ext cx="3950208" cy="3200400"/>
          </a:xfrm>
          <a:prstGeom prst="rect">
            <a:avLst/>
          </a:prstGeom>
          <a:solidFill>
            <a:srgbClr val="1B2A57"/>
          </a:solidFill>
          <a:ln w="762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99432" y="1097280"/>
            <a:ext cx="3950208" cy="347472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09728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A2A-T · IG1453 Extensions Active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736592" y="15544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structured payload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4965192" y="1755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intent in metadata — read before LLM call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4736592" y="20116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 grounding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965192" y="22128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CSP-approved; same input = same execution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4736592" y="24688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Negotiation-T pre-execution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4965192" y="26700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Ambiguity, feasibility, missing info resolved first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4736592" y="29260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 token reduction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4965192" y="31272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wire — same scenario, toggle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736592" y="33832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output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965192" y="35844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 + structured payload = reproducible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736592" y="384048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 coverage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965192" y="40416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Task-T dispatch with constraint attestation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411480" y="44348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 at DTW. Raw message payload visible. Toggle on request.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12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HVS1: Service Fault Management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autonomous fault resolution. RAN + Transport. Zero human handoffs.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207008"/>
            <a:ext cx="1783080" cy="11887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1207008"/>
            <a:ext cx="1783080" cy="27432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2104" y="1234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850"/>
          </a:p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832104" y="151790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RADCOM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32104" y="181051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over RAN + Transport telemetry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2546604" y="1591056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706624" y="1207008"/>
            <a:ext cx="1783080" cy="11887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06624" y="1207008"/>
            <a:ext cx="1783080" cy="27432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9776" y="1234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</a:t>
            </a:r>
            <a:endParaRPr lang="en-US" sz="850"/>
          </a:p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Diagnostics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2779776" y="151790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779776" y="181051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substrate query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4494276" y="1591056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654296" y="1207008"/>
            <a:ext cx="1783080" cy="11887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1207008"/>
            <a:ext cx="1783080" cy="27432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7448" y="1234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/>
          </a:p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4727448" y="151790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4727448" y="181051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KG dependency graph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6441948" y="1591056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601968" y="1207008"/>
            <a:ext cx="1783080" cy="11887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01968" y="1207008"/>
            <a:ext cx="1783080" cy="274320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0" y="1234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850"/>
          </a:p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Resolve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6675120" y="151790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RAN /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Transport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6675120" y="181051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dispatch to domain agent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758952" y="2487168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Event-T (anomaly feed) → Task-T (chain dispatch) → Audit Log (every step)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11480" y="2999232"/>
            <a:ext cx="2011680" cy="129844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145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hr</a:t>
            </a:r>
            <a:endParaRPr lang="en-US" sz="2200"/>
          </a:p>
        </p:txBody>
      </p:sp>
      <p:sp>
        <p:nvSpPr>
          <p:cNvPr id="31" name="Text 29"/>
          <p:cNvSpPr/>
          <p:nvPr/>
        </p:nvSpPr>
        <p:spPr>
          <a:xfrm>
            <a:off x="502920" y="3657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502920" y="3913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3+ hrs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2514600" y="2999232"/>
            <a:ext cx="2011680" cy="129844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06040" y="3145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/>
          </a:p>
        </p:txBody>
      </p:sp>
      <p:sp>
        <p:nvSpPr>
          <p:cNvPr id="35" name="Text 33"/>
          <p:cNvSpPr/>
          <p:nvPr/>
        </p:nvSpPr>
        <p:spPr>
          <a:xfrm>
            <a:off x="2606040" y="3657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compression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2606040" y="3913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manual baseline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617720" y="2999232"/>
            <a:ext cx="2011680" cy="129844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145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2200"/>
          </a:p>
        </p:txBody>
      </p:sp>
      <p:sp>
        <p:nvSpPr>
          <p:cNvPr id="39" name="Text 37"/>
          <p:cNvSpPr/>
          <p:nvPr/>
        </p:nvSpPr>
        <p:spPr>
          <a:xfrm>
            <a:off x="4709160" y="3657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FTE reduction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4709160" y="3913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cross-domain fault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6720840" y="2999232"/>
            <a:ext cx="2011680" cy="129844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12280" y="3145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→ 90%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6812280" y="3657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demarcation</a:t>
            </a:r>
            <a:endParaRPr lang="en-US" sz="950"/>
          </a:p>
        </p:txBody>
      </p:sp>
      <p:sp>
        <p:nvSpPr>
          <p:cNvPr id="44" name="Text 42"/>
          <p:cNvSpPr/>
          <p:nvPr/>
        </p:nvSpPr>
        <p:spPr>
          <a:xfrm>
            <a:off x="6812280" y="3913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411480" y="44348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proxy metrics — calibrated against comparable production deployments at IOH, AIS, and MTN.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13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Measured Against Production Baselines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proxy metrics, calibrated against comparable deployments at IOH, AIS, MTN. IG1501-aligned ROI model.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29260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24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521208" y="1892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 per task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521208" y="2103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vs standard LF A2A, on wire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496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re-clarification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21208" y="3108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Negotiation-T resolves before commit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11480" y="344728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521208" y="3904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determinism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21208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→ same behaviour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651760" cy="29260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1124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46120" y="143560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hr</a:t>
            </a:r>
            <a:endParaRPr lang="en-US" sz="2100"/>
          </a:p>
        </p:txBody>
      </p:sp>
      <p:sp>
        <p:nvSpPr>
          <p:cNvPr id="23" name="Text 21"/>
          <p:cNvSpPr/>
          <p:nvPr/>
        </p:nvSpPr>
        <p:spPr>
          <a:xfrm>
            <a:off x="3355848" y="1892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MTTR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355848" y="2103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3+ hr manual baseline (HVS1)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246120" y="244144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5848" y="2496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2100"/>
          </a:p>
        </p:txBody>
      </p:sp>
      <p:sp>
        <p:nvSpPr>
          <p:cNvPr id="27" name="Text 25"/>
          <p:cNvSpPr/>
          <p:nvPr/>
        </p:nvSpPr>
        <p:spPr>
          <a:xfrm>
            <a:off x="3355848" y="2898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FTE reduction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355848" y="3108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cross-domain fault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3246120" y="344728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5584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→ 90%</a:t>
            </a:r>
            <a:endParaRPr lang="en-US" sz="2100"/>
          </a:p>
        </p:txBody>
      </p:sp>
      <p:sp>
        <p:nvSpPr>
          <p:cNvPr id="31" name="Text 29"/>
          <p:cNvSpPr/>
          <p:nvPr/>
        </p:nvSpPr>
        <p:spPr>
          <a:xfrm>
            <a:off x="3355848" y="3904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demarcation accuracy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3355848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+ Digital Twin (HVS1)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6080760" y="1097280"/>
            <a:ext cx="2651760" cy="292608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1124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080760" y="143560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100"/>
          </a:p>
        </p:txBody>
      </p:sp>
      <p:sp>
        <p:nvSpPr>
          <p:cNvPr id="37" name="Text 35"/>
          <p:cNvSpPr/>
          <p:nvPr/>
        </p:nvSpPr>
        <p:spPr>
          <a:xfrm>
            <a:off x="6190488" y="1892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6190488" y="2103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cross-vendor Task-T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080760" y="244144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2496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100"/>
          </a:p>
        </p:txBody>
      </p:sp>
      <p:sp>
        <p:nvSpPr>
          <p:cNvPr id="41" name="Text 39"/>
          <p:cNvSpPr/>
          <p:nvPr/>
        </p:nvSpPr>
        <p:spPr>
          <a:xfrm>
            <a:off x="6190488" y="2898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verification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6190488" y="3108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via MEF.DEV TDG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080760" y="3447288"/>
            <a:ext cx="2651760" cy="932688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048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Per-decision</a:t>
            </a:r>
            <a:endParaRPr lang="en-US" sz="2100"/>
          </a:p>
        </p:txBody>
      </p:sp>
      <p:sp>
        <p:nvSpPr>
          <p:cNvPr id="45" name="Text 43"/>
          <p:cNvSpPr/>
          <p:nvPr/>
        </p:nvSpPr>
        <p:spPr>
          <a:xfrm>
            <a:off x="6190488" y="3904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coverage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6190488" y="4114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Infosys: EXPLAIN on every response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411480" y="44988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Commercial: &gt; 3× ROI by Year 3 · benefits in 12–18 months · zero replatforming · deployable within existing budget cycles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14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Results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HVS scenarios · 7 vendors · 18 CSP champions · end-to-end, no human handoffs.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310896"/>
          </a:xfrm>
          <a:prstGeom prst="rect">
            <a:avLst/>
          </a:prstGeom>
          <a:solidFill>
            <a:srgbClr val="152554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0642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1417320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160520" y="107899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Agent Chain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537960" y="1078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KCI · KEI · KBI Result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11480" y="1426464"/>
            <a:ext cx="8321040" cy="914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4996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HVS1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417320" y="151790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Fault Management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 + Transport)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4160520" y="151790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RADCOM · Amdocs · Huawei RAN · Infosys Transport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6537960" y="1499616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Level: L3 → L4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3+ hrs → &lt; 1 hr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Manpower: 60–70% FTE ↓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Demarcation: 70% → 90%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411480" y="2395728"/>
            <a:ext cx="8321040" cy="914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468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HVS2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417320" y="24871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Service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160520" y="24871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Infovista · Amdocs · Huawei · Infosys · Digital Twin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6537960" y="246888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Complaint→credit: no human ticket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validation: real-time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issuance: autonomous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coordination: A2A-T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8321040" cy="914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4381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HVS3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417320" y="3456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Service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4160520" y="34564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· Huawei · Amdocs · Infovista · External agents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6537960" y="3438144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Fulfilment: weeks → hours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A/T/S: autonomous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integration: A2A-T standard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cost: reduced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KCI: Key Capability · KEI: Key Effectiveness · KBI: Key Business Indicators · Validated proxy metrics (IOH, AIS, MTN) · Contributed to TM Forum AN White Paper 8.0 , DTW26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15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/>
          <p:cNvSpPr/>
          <p:nvPr/>
        </p:nvSpPr>
        <p:spPr>
          <a:xfrm>
            <a:off x="4800600" y="2670048"/>
            <a:ext cx="3931920" cy="1673352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Contributions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OpenAN  and A2A-T to LFN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14800" cy="32461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0292" cy="3246120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188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A2A CONTRIBUTION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IG1453 v2.1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76072" y="17099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specification — Task-T, Event-T, Negotiation-T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576072" y="202996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#1796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76072" y="225856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upstream extension proposals to LF A2A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76072" y="257860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experimental-ext-telecom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76072" y="280720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profile repo under a2aproject org — running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76072" y="31272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OpenAN runtime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76072" y="33558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Prompt Registry, Orchestration, KG — open via LF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76072" y="36758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76072" y="390448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· Vodafone · Telefónica · TIM · China Mobile · Huawei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3931920" cy="141732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AGNTCY RELATIONSHIP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4937760" y="1426464"/>
            <a:ext cx="37307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and the AGNTCY Agent Gateway Protocol operate at different layers — complementary, not competing. A2A-T closes the telecom semantic accuracy gap LF A2A leaves open. AGNTCY operates at the gateway and routing layer. Both are required for full carrier-grade interoperability.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937760" y="2761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4937760" y="299923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IG1453 specification (TMF governed)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4937760" y="3195091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OpenAN: Registration + Orchestration + Knowledge Graph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937760" y="339095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SDK — reference implementation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4937760" y="3586809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schema and Fabric UI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937760" y="3782667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as TM Forum asset + LF A2A telecom profile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16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3154680" y="1444752"/>
            <a:ext cx="2834640" cy="2331720"/>
          </a:xfrm>
          <a:prstGeom prst="rect">
            <a:avLst/>
          </a:prstGeom>
          <a:solidFill>
            <a:srgbClr val="082B1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572768"/>
            <a:ext cx="960120" cy="201168"/>
          </a:xfrm>
          <a:prstGeom prst="rect">
            <a:avLst/>
          </a:prstGeom>
          <a:solidFill>
            <a:srgbClr val="052E16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7AAE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85% of CIOs say explainability gaps have already blocked AI from production.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2834640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444752"/>
            <a:ext cx="2834640" cy="54864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548640" cy="201168"/>
          </a:xfrm>
          <a:prstGeom prst="rect">
            <a:avLst/>
          </a:prstGeom>
          <a:solidFill>
            <a:srgbClr val="0E3A6E"/>
          </a:solidFill>
          <a:ln w="6350">
            <a:solidFill>
              <a:srgbClr val="1A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5E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CSPs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autonomy at last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22311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BB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are under board pressure to prove AI ROI with regulators requiring traceability within 12 months. A2A-T gives operators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94BB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their own processes as the executable contract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BB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—workflows compiled into agent tasks. Every decision produces an evidence chain.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316830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5E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MTTR cut 80%  ·  NOC FTE reduced 60–70%  ·  Provable, not asserted.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2651760" cy="256032"/>
          </a:xfrm>
          <a:prstGeom prst="rect">
            <a:avLst/>
          </a:prstGeom>
          <a:solidFill>
            <a:srgbClr val="0E3A6E"/>
          </a:solidFill>
          <a:ln w="12700">
            <a:solidFill>
              <a:srgbClr val="0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E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70% of CIOs: AI audit mandates within 12 months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54680" y="1444752"/>
            <a:ext cx="2834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19" y="1572768"/>
            <a:ext cx="92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VENDORs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4612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ends the integration tax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46120" y="22311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6C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74% of CIOs regret at least one AI vendor selection in the past 18 months. The root cause is lock-in. A2A-T, governed in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86C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open source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6C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means any vendor's agent registers once and interoperates across the entire fabric.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46120" y="31363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partners. One protocol. New agents integrated in days, not quarters.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46120" y="3429000"/>
            <a:ext cx="2651760" cy="256032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74% regret their AI vendor choice — open wins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1444752"/>
            <a:ext cx="2834640" cy="2331720"/>
          </a:xfrm>
          <a:prstGeom prst="rect">
            <a:avLst/>
          </a:prstGeom>
          <a:solidFill>
            <a:srgbClr val="1A0A2E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1444752"/>
            <a:ext cx="2834640" cy="54864"/>
          </a:xfrm>
          <a:prstGeom prst="rect">
            <a:avLst/>
          </a:prstGeom>
          <a:solidFill>
            <a:srgbClr val="D1005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199" y="1572768"/>
            <a:ext cx="1282849" cy="201168"/>
          </a:xfrm>
          <a:prstGeom prst="rect">
            <a:avLst/>
          </a:prstGeom>
          <a:solidFill>
            <a:srgbClr val="2E1065"/>
          </a:solidFill>
          <a:ln w="635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2200" y="1572768"/>
            <a:ext cx="1390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SIs/Consultants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clients can buy and deploy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0" y="22311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A897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82% of CIOs say agents are built faster than IT can govern them. Consultants need a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897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standards-backed governance blueprint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A897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deployable as an overlay on existing OSS/BSS — no replatforming.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72200" y="31588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IG1453 + IG1501 ROI model. Validated by 20 operators. 3× ROI by Year 3.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3429000"/>
            <a:ext cx="2651760" cy="256032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3× ROI by Year 3  ·  No replatforming required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8600" y="3913632"/>
            <a:ext cx="2103120" cy="658368"/>
          </a:xfrm>
          <a:prstGeom prst="rect">
            <a:avLst/>
          </a:prstGeom>
          <a:solidFill>
            <a:srgbClr val="132337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950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B8D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· 3+ hrs → &lt;1 hr, zero handoffs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404872" y="3913632"/>
            <a:ext cx="2103120" cy="658368"/>
          </a:xfrm>
          <a:prstGeom prst="rect">
            <a:avLst/>
          </a:prstGeom>
          <a:solidFill>
            <a:srgbClr val="132337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96312" y="3950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496312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B8D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NOC FTE per fault · verified vs IOH production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81144" y="3913632"/>
            <a:ext cx="2103120" cy="658368"/>
          </a:xfrm>
          <a:prstGeom prst="rect">
            <a:avLst/>
          </a:prstGeom>
          <a:solidFill>
            <a:srgbClr val="132337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72584" y="3950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Weeks → Hours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672584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B8D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fulfilment · access, transport, 3rd-party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757416" y="3913632"/>
            <a:ext cx="2103120" cy="658368"/>
          </a:xfrm>
          <a:prstGeom prst="rect">
            <a:avLst/>
          </a:prstGeom>
          <a:solidFill>
            <a:srgbClr val="132337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48856" y="3950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 operators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48856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B8D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vendors · 1 open protocol · 0 bespoke integrations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" y="4764024"/>
            <a:ext cx="36576" cy="347472"/>
          </a:xfrm>
          <a:prstGeom prst="rect">
            <a:avLst/>
          </a:prstGeom>
          <a:solidFill>
            <a:srgbClr val="1A6BCC"/>
          </a:solidFill>
          <a:ln w="12700">
            <a:solidFill>
              <a:srgbClr val="1A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74573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AE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greatest fear in 2026: </a:t>
            </a: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that AI will be wrong — but that AI will be ungoverned. </a:t>
            </a: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7AAE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A2A-T and Agent Fabric give telecom one open protocol, one open runtime, one governance fabric. Level 4 stops being a target. It becomes production reality.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D97109F1-0D72-4D21-B1D2-FE7C012CAC7D}"/>
              </a:ext>
            </a:extLst>
          </p:cNvPr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Catalyst Matters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Fabric: A Three-Phase Evolution</a:t>
            </a:r>
            <a:endParaRPr lang="en-US" sz="2600">
              <a:solidFill>
                <a:srgbClr val="CADCF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builds on two prior Catalysts. 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3200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Copilot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Agents · AN Level 3+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11480" y="2157984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— NOC engineer decides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L4 autonomous agents with copilot above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hrs → minutes, single engineer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verify, approve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51760" cy="3200400"/>
          </a:xfrm>
          <a:prstGeom prst="rect">
            <a:avLst/>
          </a:prstGeom>
          <a:solidFill>
            <a:srgbClr val="152554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9A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383280" y="1426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3383280" y="17739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Collaboration · AN Level 4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11480" y="2157984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Multi-vendor, multi-agent (MVMA)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338328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+ NOC unified, cross-domain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338328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cooperate without human handoffs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A2A, ACP, MCP runtime · TMF939/735 APIs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108240" y="1097280"/>
            <a:ext cx="2651760" cy="3200400"/>
          </a:xfrm>
          <a:prstGeom prst="rect">
            <a:avLst/>
          </a:prstGeom>
          <a:solidFill>
            <a:srgbClr val="1B2A57"/>
          </a:solidFill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50292" cy="3200400"/>
          </a:xfrm>
          <a:prstGeom prst="rect">
            <a:avLst/>
          </a:prstGeom>
          <a:solidFill>
            <a:srgbClr val="D1005D"/>
          </a:solidFill>
          <a:ln w="12700">
            <a:solidFill>
              <a:srgbClr val="D10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217920" y="1426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Fabric: 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Runtime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217920" y="17739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+ open fabric · L4 sustained  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11480" y="2157984"/>
            <a:ext cx="8321040" cy="0"/>
          </a:xfrm>
          <a:prstGeom prst="line">
            <a:avLst/>
          </a:prstGeom>
          <a:noFill/>
          <a:ln w="635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A2A-T extends LF A2A · IG1453-aligned</a:t>
            </a:r>
          </a:p>
          <a:p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 · Event-T · Negotiation-T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Semantics, Coordination,  Governance, Trust </a:t>
            </a:r>
          </a:p>
        </p:txBody>
      </p:sp>
      <p:sp>
        <p:nvSpPr>
          <p:cNvPr id="31" name="Text 29"/>
          <p:cNvSpPr/>
          <p:nvPr/>
        </p:nvSpPr>
        <p:spPr>
          <a:xfrm>
            <a:off x="621792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7-vendor fabric · 18 operator champions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621792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HVS proven live</a:t>
            </a:r>
          </a:p>
          <a:p>
            <a:r>
              <a:rPr lang="en-US" sz="1100" b="1" kern="0" spc="200">
                <a:solidFill>
                  <a:srgbClr val="FF4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trusted, governed</a:t>
            </a:r>
          </a:p>
        </p:txBody>
      </p:sp>
      <p:sp>
        <p:nvSpPr>
          <p:cNvPr id="33" name="Text 31"/>
          <p:cNvSpPr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is achievable. </a:t>
            </a:r>
            <a:r>
              <a:rPr lang="en-US" sz="1100" i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unsolved problem is keeping it there — safely, trusted, business-focused. Phase III solves that.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11480" y="4791456"/>
            <a:ext cx="8321040" cy="0"/>
          </a:xfrm>
          <a:prstGeom prst="line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0" name="FooterBar"/>
          <p:cNvSpPr/>
          <p:nvPr/>
        </p:nvSpPr>
        <p:spPr>
          <a:xfrm>
            <a:off x="0" y="4802653"/>
            <a:ext cx="9144000" cy="340847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FtrLeft"/>
          <p:cNvSpPr txBox="1"/>
          <p:nvPr/>
        </p:nvSpPr>
        <p:spPr>
          <a:xfrm>
            <a:off x="228600" y="4866640"/>
            <a:ext cx="2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>
                <a:solidFill>
                  <a:srgbClr val="FFFFFF"/>
                </a:solidFill>
              </a:rPr>
              <a:t>© 2026 TM Forum</a:t>
            </a:r>
          </a:p>
        </p:txBody>
      </p:sp>
      <p:sp>
        <p:nvSpPr>
          <p:cNvPr id="942" name="FtrCenter"/>
          <p:cNvSpPr txBox="1"/>
          <p:nvPr/>
        </p:nvSpPr>
        <p:spPr>
          <a:xfrm>
            <a:off x="2622000" y="4866640"/>
            <a:ext cx="39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GB" sz="900">
                <a:solidFill>
                  <a:srgbClr val="FFFFFF"/>
                </a:solidFill>
              </a:rPr>
              <a:t>C26.0.910 Agent Fabric: A2A-T Runtime Phase III</a:t>
            </a:r>
          </a:p>
        </p:txBody>
      </p:sp>
      <p:sp>
        <p:nvSpPr>
          <p:cNvPr id="943" name="FtrDate"/>
          <p:cNvSpPr txBox="1"/>
          <p:nvPr/>
        </p:nvSpPr>
        <p:spPr>
          <a:xfrm>
            <a:off x="7000000" y="4866640"/>
            <a:ext cx="140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GB" sz="90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944" name="FtrNum"/>
          <p:cNvSpPr txBox="1"/>
          <p:nvPr/>
        </p:nvSpPr>
        <p:spPr>
          <a:xfrm>
            <a:off x="8550000" y="4866640"/>
            <a:ext cx="420000" cy="2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7E3A1C2-9F4D-4E8A-B1C3-0A1B2C3D4E5F}" type="slidenum">
              <a:rPr lang="en-GB" sz="900" dirty="0">
                <a:solidFill>
                  <a:srgbClr val="FFFFFF"/>
                </a:solidFill>
              </a:rPr>
              <a:t>18</a:t>
            </a:fld>
            <a:endParaRPr lang="en-GB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008fd3-b537-4411-a89b-cf5b12e655aa">
      <Terms xmlns="http://schemas.microsoft.com/office/infopath/2007/PartnerControls"/>
    </lcf76f155ced4ddcb4097134ff3c332f>
    <TaxCatchAll xmlns="50a2e15d-c978-461f-9009-db73363369d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8801504154C4F9E8BF4E56E76FBC1" ma:contentTypeVersion="11" ma:contentTypeDescription="Create a new document." ma:contentTypeScope="" ma:versionID="997597acb64a503e189faf38d7319683">
  <xsd:schema xmlns:xsd="http://www.w3.org/2001/XMLSchema" xmlns:xs="http://www.w3.org/2001/XMLSchema" xmlns:p="http://schemas.microsoft.com/office/2006/metadata/properties" xmlns:ns2="94008fd3-b537-4411-a89b-cf5b12e655aa" xmlns:ns3="50a2e15d-c978-461f-9009-db73363369d6" targetNamespace="http://schemas.microsoft.com/office/2006/metadata/properties" ma:root="true" ma:fieldsID="b577a486f710de21fd9d90451b32db53" ns2:_="" ns3:_="">
    <xsd:import namespace="94008fd3-b537-4411-a89b-cf5b12e655aa"/>
    <xsd:import namespace="50a2e15d-c978-461f-9009-db7336336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8fd3-b537-4411-a89b-cf5b12e6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c21206-e962-4e70-b7c6-9737299e2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e15d-c978-461f-9009-db73363369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61e7a08-8203-457c-9ed7-f5fd7b376889}" ma:internalName="TaxCatchAll" ma:showField="CatchAllData" ma:web="50a2e15d-c978-461f-9009-db7336336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FA83EE-F1BB-4C13-A388-2A711610A879}">
  <ds:schemaRefs>
    <ds:schemaRef ds:uri="50a2e15d-c978-461f-9009-db73363369d6"/>
    <ds:schemaRef ds:uri="94008fd3-b537-4411-a89b-cf5b12e655a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2138380-DE35-4E74-B094-2826053ED433}">
  <ds:schemaRefs>
    <ds:schemaRef ds:uri="50a2e15d-c978-461f-9009-db73363369d6"/>
    <ds:schemaRef ds:uri="94008fd3-b537-4411-a89b-cf5b12e655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451544-3AF3-449F-83C8-E0914223737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5f6f8d-6dc6-40f6-becc-7ae321123747}" enabled="0" method="" siteId="{8c5f6f8d-6dc6-40f6-becc-7ae321123747}" removed="1"/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C26.0.910 Agent Fabric A2A-T Runtime Phase III</dc:title>
  <dc:subject>A2A-T Runtime</dc:subject>
  <dc:creator>Kevin McDonnell</dc:creator>
  <cp:keywords>A2A,A2A-T, OpenAN</cp:keywords>
  <cp:revision>1</cp:revision>
  <dcterms:created xsi:type="dcterms:W3CDTF">2026-06-06T20:42:30Z</dcterms:created>
  <dcterms:modified xsi:type="dcterms:W3CDTF">2026-06-10T07:02:04Z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0x0101009468801504154C4F9E8BF4E56E76FBC1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Theme:3</vt:lpwstr>
  </property>
  <property fmtid="{D5CDD505-2E9C-101B-9397-08002B2CF9AE}" pid="5" name="ClassificationContentMarkingFooterText">
    <vt:lpwstr>Orange Restricted</vt:lpwstr>
  </property>
</Properties>
</file>