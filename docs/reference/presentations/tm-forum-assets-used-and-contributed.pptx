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3231" r:id="rId5"/>
    <p:sldId id="2147483228" r:id="rId6"/>
    <p:sldId id="214748323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75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DE717A-961A-1F01-EFF7-76C93ECDB3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728000" y="2129400"/>
            <a:ext cx="6360688" cy="4377763"/>
          </a:xfrm>
        </p:spPr>
        <p:txBody>
          <a:bodyPr/>
          <a:lstStyle>
            <a:lvl1pPr marL="0" indent="0">
              <a:lnSpc>
                <a:spcPts val="9400"/>
              </a:lnSpc>
              <a:buFont typeface="Arial" panose="020B0604020202020204" pitchFamily="34" charset="0"/>
              <a:buNone/>
              <a:defRPr sz="94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5000"/>
              </a:lnSpc>
              <a:buFont typeface="Arial" panose="020B0604020202020204" pitchFamily="34" charset="0"/>
              <a:buNone/>
              <a:defRPr sz="5000">
                <a:solidFill>
                  <a:schemeClr val="bg1"/>
                </a:solidFill>
                <a:latin typeface="Aptos Light" panose="020B0004020202020204" pitchFamily="34" charset="0"/>
              </a:defRPr>
            </a:lvl2pPr>
            <a:lvl3pPr marL="0" indent="0">
              <a:lnSpc>
                <a:spcPts val="3200"/>
              </a:lnSpc>
              <a:spcBef>
                <a:spcPts val="1200"/>
              </a:spcBef>
              <a:buNone/>
              <a:defRPr sz="2600">
                <a:solidFill>
                  <a:schemeClr val="bg1"/>
                </a:solidFill>
                <a:latin typeface="Aptos Light" panose="020B0004020202020204" pitchFamily="34" charset="0"/>
              </a:defRPr>
            </a:lvl3pPr>
            <a:lvl4pPr marL="0" indent="0"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Title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7B6F22F-2D04-BC9A-71C3-34653FB73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481" y="426599"/>
            <a:ext cx="1998454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62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11366242" cy="457849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June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C25.0.798 Agent Fabric Phase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516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68C72A8-9EBA-AAE2-EF10-9884B92F8C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" b="299"/>
          <a:stretch/>
        </p:blipFill>
        <p:spPr>
          <a:xfrm>
            <a:off x="0" y="6403538"/>
            <a:ext cx="12192000" cy="4544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EAC07-BE10-A26A-3FC4-BD174ACF9E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8800" y="282601"/>
            <a:ext cx="9234000" cy="11872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1D4D7-86E3-F576-0712-267D640A8F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418800" y="1598474"/>
            <a:ext cx="9234000" cy="45784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D3A29-3A62-06D4-220F-31DE73F6BB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8148000" y="6538913"/>
            <a:ext cx="2394000" cy="19004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June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DFEE1-D228-F989-0DB6-0474BF47AC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3322655" y="6534778"/>
            <a:ext cx="4414946" cy="2411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C25.0.798 Agent Fabric Phase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731DC-D737-DCC5-DB49-BF5555986C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020800" y="6531429"/>
            <a:ext cx="764242" cy="19004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DD8F28C-E404-44CF-9F42-4614D03DA8C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26ABD-D0FC-63A7-1FA1-DE8977616D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2069706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</p:sldLayoutIdLst>
  <p:hf hdr="0"/>
  <p:txStyles>
    <p:titleStyle>
      <a:lvl1pPr algn="l" defTabSz="914400" rtl="0" eaLnBrk="1" latinLnBrk="0" hangingPunct="1">
        <a:lnSpc>
          <a:spcPts val="3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400"/>
        </a:lnSpc>
        <a:spcBef>
          <a:spcPts val="0"/>
        </a:spcBef>
        <a:spcAft>
          <a:spcPts val="1000"/>
        </a:spcAft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1920"/>
        </a:lnSpc>
        <a:spcBef>
          <a:spcPts val="0"/>
        </a:spcBef>
        <a:buClr>
          <a:schemeClr val="accent6"/>
        </a:buClr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-215900" algn="l" defTabSz="914400" rtl="0" eaLnBrk="1" latinLnBrk="0" hangingPunct="1">
        <a:lnSpc>
          <a:spcPts val="192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468000" indent="-215900" algn="l" defTabSz="914400" rtl="0" eaLnBrk="1" latinLnBrk="0" hangingPunct="1">
        <a:lnSpc>
          <a:spcPts val="1920"/>
        </a:lnSpc>
        <a:spcBef>
          <a:spcPts val="0"/>
        </a:spcBef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16000" indent="-215900" algn="l" defTabSz="914400" rtl="0" eaLnBrk="1" latinLnBrk="0" hangingPunct="1">
        <a:lnSpc>
          <a:spcPts val="1920"/>
        </a:lnSpc>
        <a:spcBef>
          <a:spcPts val="0"/>
        </a:spcBef>
        <a:buClr>
          <a:schemeClr val="accent1"/>
        </a:buClr>
        <a:buFont typeface="+mj-lt"/>
        <a:buAutoNum type="arabicPeriod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33F559-0C26-39A9-D0E3-66B086FC6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380" y="1097013"/>
            <a:ext cx="6360688" cy="4377763"/>
          </a:xfrm>
        </p:spPr>
        <p:txBody>
          <a:bodyPr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4800" dirty="0">
                <a:latin typeface="Aptos Light" panose="020B0004020202020204" pitchFamily="34" charset="0"/>
              </a:rPr>
              <a:t>Agent Fabric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2400" dirty="0">
                <a:latin typeface="Aptos Light" panose="020B0004020202020204" pitchFamily="34" charset="0"/>
              </a:rPr>
              <a:t>A2A-T Runtime 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2400" dirty="0">
                <a:latin typeface="Aptos Light" panose="020B0004020202020204" pitchFamily="34" charset="0"/>
              </a:rPr>
              <a:t>Phase III</a:t>
            </a:r>
          </a:p>
          <a:p>
            <a:pPr lvl="1" algn="ctr">
              <a:lnSpc>
                <a:spcPct val="100000"/>
              </a:lnSpc>
            </a:pPr>
            <a:r>
              <a:rPr lang="en-US" sz="1600" dirty="0"/>
              <a:t>Agents that understand telecom.</a:t>
            </a:r>
          </a:p>
          <a:p>
            <a:pPr lvl="1" algn="ctr">
              <a:lnSpc>
                <a:spcPct val="100000"/>
              </a:lnSpc>
            </a:pPr>
            <a:r>
              <a:rPr lang="en-US" sz="1600" dirty="0"/>
              <a:t>Trusted autonomy for production.</a:t>
            </a:r>
          </a:p>
          <a:p>
            <a:pPr lvl="1" algn="ctr">
              <a:lnSpc>
                <a:spcPct val="100000"/>
              </a:lnSpc>
            </a:pPr>
            <a:r>
              <a:rPr lang="en-US" sz="1600" b="1" dirty="0"/>
              <a:t>C26.0.910</a:t>
            </a:r>
          </a:p>
          <a:p>
            <a:pPr lvl="1" algn="ctr">
              <a:lnSpc>
                <a:spcPct val="100000"/>
              </a:lnSpc>
            </a:pPr>
            <a:endParaRPr lang="en-US" sz="3200" dirty="0"/>
          </a:p>
          <a:p>
            <a:pPr lvl="1" algn="ctr">
              <a:lnSpc>
                <a:spcPct val="100000"/>
              </a:lnSpc>
            </a:pPr>
            <a:r>
              <a:rPr lang="en-US" sz="2800" dirty="0"/>
              <a:t>How Agent Fabric contributes to and uses TM Forum assets through real Catalyst delivery</a:t>
            </a:r>
          </a:p>
        </p:txBody>
      </p:sp>
    </p:spTree>
    <p:extLst>
      <p:ext uri="{BB962C8B-B14F-4D97-AF65-F5344CB8AC3E}">
        <p14:creationId xmlns:p14="http://schemas.microsoft.com/office/powerpoint/2010/main" val="2083482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34DD781-F3A7-4666-9E09-56A658980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0890882"/>
              </p:ext>
            </p:extLst>
          </p:nvPr>
        </p:nvGraphicFramePr>
        <p:xfrm>
          <a:off x="419100" y="1598613"/>
          <a:ext cx="11366739" cy="421762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36822">
                  <a:extLst>
                    <a:ext uri="{9D8B030D-6E8A-4147-A177-3AD203B41FA5}">
                      <a16:colId xmlns:a16="http://schemas.microsoft.com/office/drawing/2014/main" val="2310850799"/>
                    </a:ext>
                  </a:extLst>
                </a:gridCol>
                <a:gridCol w="2600161">
                  <a:extLst>
                    <a:ext uri="{9D8B030D-6E8A-4147-A177-3AD203B41FA5}">
                      <a16:colId xmlns:a16="http://schemas.microsoft.com/office/drawing/2014/main" val="3444691620"/>
                    </a:ext>
                  </a:extLst>
                </a:gridCol>
                <a:gridCol w="3185308">
                  <a:extLst>
                    <a:ext uri="{9D8B030D-6E8A-4147-A177-3AD203B41FA5}">
                      <a16:colId xmlns:a16="http://schemas.microsoft.com/office/drawing/2014/main" val="1089374114"/>
                    </a:ext>
                  </a:extLst>
                </a:gridCol>
                <a:gridCol w="4062332">
                  <a:extLst>
                    <a:ext uri="{9D8B030D-6E8A-4147-A177-3AD203B41FA5}">
                      <a16:colId xmlns:a16="http://schemas.microsoft.com/office/drawing/2014/main" val="2554939201"/>
                    </a:ext>
                  </a:extLst>
                </a:gridCol>
                <a:gridCol w="1182116">
                  <a:extLst>
                    <a:ext uri="{9D8B030D-6E8A-4147-A177-3AD203B41FA5}">
                      <a16:colId xmlns:a16="http://schemas.microsoft.com/office/drawing/2014/main" val="2654628147"/>
                    </a:ext>
                  </a:extLst>
                </a:gridCol>
              </a:tblGrid>
              <a:tr h="4726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#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TM Forum Asset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Application in Catalyst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Description / Proof Points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Type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extLst>
                  <a:ext uri="{0D108BD9-81ED-4DB2-BD59-A6C34878D82A}">
                    <a16:rowId xmlns:a16="http://schemas.microsoft.com/office/drawing/2014/main" val="4228835951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IG1453 — Agent to Agent Protocol for Telecoms (A2A-T)</a:t>
                      </a:r>
                      <a:endParaRPr lang="en-US" sz="1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Primary protocol developed, specified and demonstrated through the Catalyst.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A2A-T Telecom Extension delivered: Task-T, Event-T/Sub-Pub-T, Negotiation-T.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Runtime SDK, Agent Card schema, Trusted Layer Profile, multi-vendor live demo.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Lifecycle: Negotiate → Task → Event; three modes (NL, 3GPP Intent, Hybrid).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CONTRIBUTED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727926581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marL="0" marR="0" algn="l" defTabSz="914400" rtl="0" eaLnBrk="1" fontAlgn="b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2</a:t>
                      </a: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IGXXX – AN Industry Report</a:t>
                      </a: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/>
                        <a:t>Two-page Catalyst contribution submitted as case-study evidence within the AN Industry Report.</a:t>
                      </a:r>
                      <a:endParaRPr lang="en-US" sz="9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/>
                        <a:t>• Catalyst positioned as worked, multi-vendor evidence of A2A-T runtime and SAA trust model in delivery. • Maps Catalyst outcomes — protocol, runtime, HVS </a:t>
                      </a:r>
                      <a:r>
                        <a:rPr lang="en-US" sz="900" dirty="0" err="1"/>
                        <a:t>realisation</a:t>
                      </a:r>
                      <a:r>
                        <a:rPr lang="en-US" sz="900" dirty="0"/>
                        <a:t>, operational trust — to the AN industry narrative. • Anchors A2A-T and Operational Trust contributions within the broader AN </a:t>
                      </a:r>
                      <a:r>
                        <a:rPr lang="en-US" sz="900" dirty="0" err="1"/>
                        <a:t>programme</a:t>
                      </a:r>
                      <a:r>
                        <a:rPr lang="en-US" sz="900" dirty="0"/>
                        <a:t> view.</a:t>
                      </a:r>
                      <a:endParaRPr lang="en-US" sz="9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CONTRIBUTED</a:t>
                      </a: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1149702691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IG1464 — Value Ecosystem Modelling in the Age of Agents v1.0.0</a:t>
                      </a:r>
                      <a:endParaRPr lang="en-US" sz="10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Catalyst informs multi-vendor value ecosystem patterns and reference instances.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Multi-champion, multi-vendor delivery serves as a worked reference instance.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Value flows across CSP and vendor agents mapped to ecosystem model constructs.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Information Guide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2155140970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IG1482 — Agent Coaching and Evaluation for Wireless Network Complaint Handling Pilot Case Study</a:t>
                      </a:r>
                      <a:endParaRPr lang="en-US" sz="10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Pilot case study evidence for agent evaluation and coaching patterns.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Design-time and runtime evaluation contributed from Catalyst </a:t>
                      </a:r>
                      <a:r>
                        <a:rPr lang="en-US" sz="600" b="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DesignEval</a:t>
                      </a: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and observability work.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Evaluation outputs linked to A2A-T runtime traces for closed-loop coaching.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Information Guide (Pilot Case Study)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2058407683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IG1488 — Evolving OSS Architectures for the Digital Twin Framework</a:t>
                      </a:r>
                      <a:endParaRPr lang="en-US" sz="1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Digital Twin substrate evidenced beneath the HVS1 four-agent chain.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Digital Twin sits underneath the agent chain (Problem ID, Diagnostics, Impact, </a:t>
                      </a:r>
                      <a:r>
                        <a:rPr lang="en-US" sz="600" b="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Prioritise</a:t>
                      </a: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).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Demonstrates Digital Twin as the reasoning substrate the chain operates against, not a sibling agent.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CONTRIBUTED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4240818486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GB1087 — Security</a:t>
                      </a:r>
                      <a:endParaRPr lang="en-US" sz="1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Catalyst security implementation aligned to and feeds back into GB1087 baseline.</a:t>
                      </a:r>
                      <a:endParaRPr lang="en-US" sz="10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MTLS, certificate infrastructure and trust-of-provider validation exercised against GB1087 controls.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Operational evidence captured for security-baseline refresh inputs.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CONTRIBUTED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1062961948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GB1088 — </a:t>
                      </a:r>
                      <a:r>
                        <a:rPr lang="en-US" sz="900" b="1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MODaaS</a:t>
                      </a:r>
                      <a:endParaRPr lang="en-US" sz="1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Model-driven OSS schemas applied and refined through Agent Registry and Prompt Registry.</a:t>
                      </a:r>
                      <a:endParaRPr lang="en-US" sz="10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Agent skills ontology and prompt schemas align to </a:t>
                      </a:r>
                      <a:r>
                        <a:rPr lang="en-US" sz="600" b="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MODaaS</a:t>
                      </a: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principles.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Catalyst surfaces operational learnings for </a:t>
                      </a:r>
                      <a:r>
                        <a:rPr lang="en-US" sz="600" b="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MODaaS</a:t>
                      </a: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evolution in an agentic context.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Standard / Guide Book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2564165237"/>
                  </a:ext>
                </a:extLst>
              </a:tr>
            </a:tbl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4C1586-0C78-40F4-971D-381D9E9F9C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List of Assets Used/Contributed</a:t>
            </a:r>
          </a:p>
        </p:txBody>
      </p:sp>
    </p:spTree>
    <p:extLst>
      <p:ext uri="{BB962C8B-B14F-4D97-AF65-F5344CB8AC3E}">
        <p14:creationId xmlns:p14="http://schemas.microsoft.com/office/powerpoint/2010/main" val="111084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34DD781-F3A7-4666-9E09-56A658980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9823844"/>
              </p:ext>
            </p:extLst>
          </p:nvPr>
        </p:nvGraphicFramePr>
        <p:xfrm>
          <a:off x="419100" y="1598613"/>
          <a:ext cx="11366740" cy="388767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88621">
                  <a:extLst>
                    <a:ext uri="{9D8B030D-6E8A-4147-A177-3AD203B41FA5}">
                      <a16:colId xmlns:a16="http://schemas.microsoft.com/office/drawing/2014/main" val="2310850799"/>
                    </a:ext>
                  </a:extLst>
                </a:gridCol>
                <a:gridCol w="2673710">
                  <a:extLst>
                    <a:ext uri="{9D8B030D-6E8A-4147-A177-3AD203B41FA5}">
                      <a16:colId xmlns:a16="http://schemas.microsoft.com/office/drawing/2014/main" val="3444691620"/>
                    </a:ext>
                  </a:extLst>
                </a:gridCol>
                <a:gridCol w="3337569">
                  <a:extLst>
                    <a:ext uri="{9D8B030D-6E8A-4147-A177-3AD203B41FA5}">
                      <a16:colId xmlns:a16="http://schemas.microsoft.com/office/drawing/2014/main" val="1089374114"/>
                    </a:ext>
                  </a:extLst>
                </a:gridCol>
                <a:gridCol w="3684724">
                  <a:extLst>
                    <a:ext uri="{9D8B030D-6E8A-4147-A177-3AD203B41FA5}">
                      <a16:colId xmlns:a16="http://schemas.microsoft.com/office/drawing/2014/main" val="2554939201"/>
                    </a:ext>
                  </a:extLst>
                </a:gridCol>
                <a:gridCol w="1182116">
                  <a:extLst>
                    <a:ext uri="{9D8B030D-6E8A-4147-A177-3AD203B41FA5}">
                      <a16:colId xmlns:a16="http://schemas.microsoft.com/office/drawing/2014/main" val="2654628147"/>
                    </a:ext>
                  </a:extLst>
                </a:gridCol>
              </a:tblGrid>
              <a:tr h="4726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#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TM Forum Asset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Application in Catalyst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Description / Proof Points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Type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84" marR="93184" anchor="ctr"/>
                </a:tc>
                <a:extLst>
                  <a:ext uri="{0D108BD9-81ED-4DB2-BD59-A6C34878D82A}">
                    <a16:rowId xmlns:a16="http://schemas.microsoft.com/office/drawing/2014/main" val="4228835951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3184" marR="93184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IG1251 / IG1251C / IG1251D / IG1251E / IG1251G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Anchoring architecture for the Catalyst across reference, agentic, agent anatomy, multi-agent systems and IP domain multi-scenario.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Architecture aligned to the 3 layers and 4 loops of IG1251.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Agent anatomy applied consistently across vendor-contributed agents.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Multi-Agent System patterns </a:t>
                      </a:r>
                      <a:r>
                        <a:rPr lang="en-US" sz="70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realised</a:t>
                      </a: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end-to-end in the runtime.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CONTRIBUTED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727926581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3184" marR="93184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AN Levels Evaluation Toolkits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Behavioural</a:t>
                      </a: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autonomy taxonomy used to frame scenarios and award narrative.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Target: keep Level 4 safe, trusted and business-focused; not a claim to L5.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Level 4 requires intent + agents — both present in the Catalyst runtime.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USED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1149702691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3184" marR="93184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TIO — TM Forum Intent Ontology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Intent representation linked to Task-T payload via the Hybrid mode.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TIO is used as one of the three Task-T modes alongside NL and 3GPP Intent.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Scope of intent claim is deliberately bounded to TIO ↔ Task-T linkage.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USED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2155140970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3184" marR="93184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ODA — Open Digital Architecture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Architectural alignment for agents, APIs and components surfaced by the fabric.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Vendor agents and supporting APIs map cleanly to ODA domains and components.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Catalyst runtime is consistent with ODA principles of composability and openness.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USED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2058407683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3184" marR="93184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TMF Open APIs — TMF641, TMF640, TMF974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Service ordering, service activation/configuration and alarm/event surfaces consumed by Catalyst agents.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Open APIs invoked across vendor agents in High-Value Scenarios.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API interactions captured in the audit log for replay and attribution.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Open API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4240818486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3184" marR="93184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AN High-Value Scenarios (HVS) methodology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Scenario framing for the Catalyst demos, evidence and award narrative.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HVS1 </a:t>
                      </a:r>
                      <a:r>
                        <a:rPr lang="en-US" sz="70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realised</a:t>
                      </a: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through the four-agent chain on a Digital Twin substrate.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7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Provides repeatable structure for evidence-led judging and DTW presentation.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USED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767755277"/>
                  </a:ext>
                </a:extLst>
              </a:tr>
              <a:tr h="47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IG1463 — Security Considerations for Agentic AI in Autonomous Networks v1.0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Section 3.1.14 Threats in Agent-to-Agent (A2A) Protocol authored from Catalyst findings.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SAA trust model evidenced: Security, Accuracy, Accountability.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A2A threat model and runtime mitigations exercised against live multi-vendor agents.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6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Auditability captured inside Accountability via audit log and governance agent.</a:t>
                      </a:r>
                      <a:endParaRPr lang="en-US" sz="7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Information Guide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4263578942"/>
                  </a:ext>
                </a:extLst>
              </a:tr>
            </a:tbl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1A4FC1-4A41-4CBC-AAF7-DFDD49E336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List of Assets Used/Contributed</a:t>
            </a:r>
          </a:p>
        </p:txBody>
      </p:sp>
    </p:spTree>
    <p:extLst>
      <p:ext uri="{BB962C8B-B14F-4D97-AF65-F5344CB8AC3E}">
        <p14:creationId xmlns:p14="http://schemas.microsoft.com/office/powerpoint/2010/main" val="8307795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M Forum Theme Colours">
      <a:dk1>
        <a:sysClr val="windowText" lastClr="000000"/>
      </a:dk1>
      <a:lt1>
        <a:sysClr val="window" lastClr="FFFFFF"/>
      </a:lt1>
      <a:dk2>
        <a:srgbClr val="0D0B4D"/>
      </a:dk2>
      <a:lt2>
        <a:srgbClr val="E7E6E6"/>
      </a:lt2>
      <a:accent1>
        <a:srgbClr val="ED003B"/>
      </a:accent1>
      <a:accent2>
        <a:srgbClr val="FF4200"/>
      </a:accent2>
      <a:accent3>
        <a:srgbClr val="00B671"/>
      </a:accent3>
      <a:accent4>
        <a:srgbClr val="980BD9"/>
      </a:accent4>
      <a:accent5>
        <a:srgbClr val="39C5E5"/>
      </a:accent5>
      <a:accent6>
        <a:srgbClr val="F4059D"/>
      </a:accent6>
      <a:hlink>
        <a:srgbClr val="002060"/>
      </a:hlink>
      <a:folHlink>
        <a:srgbClr val="FF0043"/>
      </a:folHlink>
    </a:clrScheme>
    <a:fontScheme name="DWT Theme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_Forum_PPT.potx" id="{55244F31-691C-4D52-B53A-E86DD391F270}" vid="{8D2DF3AF-FD9C-4AFE-9278-25BC26A13DE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008fd3-b537-4411-a89b-cf5b12e655aa">
      <Terms xmlns="http://schemas.microsoft.com/office/infopath/2007/PartnerControls"/>
    </lcf76f155ced4ddcb4097134ff3c332f>
    <TaxCatchAll xmlns="50a2e15d-c978-461f-9009-db73363369d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68801504154C4F9E8BF4E56E76FBC1" ma:contentTypeVersion="11" ma:contentTypeDescription="Create a new document." ma:contentTypeScope="" ma:versionID="997597acb64a503e189faf38d7319683">
  <xsd:schema xmlns:xsd="http://www.w3.org/2001/XMLSchema" xmlns:xs="http://www.w3.org/2001/XMLSchema" xmlns:p="http://schemas.microsoft.com/office/2006/metadata/properties" xmlns:ns2="94008fd3-b537-4411-a89b-cf5b12e655aa" xmlns:ns3="50a2e15d-c978-461f-9009-db73363369d6" targetNamespace="http://schemas.microsoft.com/office/2006/metadata/properties" ma:root="true" ma:fieldsID="b577a486f710de21fd9d90451b32db53" ns2:_="" ns3:_="">
    <xsd:import namespace="94008fd3-b537-4411-a89b-cf5b12e655aa"/>
    <xsd:import namespace="50a2e15d-c978-461f-9009-db73363369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008fd3-b537-4411-a89b-cf5b12e655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6c21206-e962-4e70-b7c6-9737299e2f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2e15d-c978-461f-9009-db73363369d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61e7a08-8203-457c-9ed7-f5fd7b376889}" ma:internalName="TaxCatchAll" ma:showField="CatchAllData" ma:web="50a2e15d-c978-461f-9009-db7336336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A44C0C-9F83-46E6-AC9B-3FDA1BDF3166}">
  <ds:schemaRefs>
    <ds:schemaRef ds:uri="http://schemas.microsoft.com/office/2006/metadata/properties"/>
    <ds:schemaRef ds:uri="http://schemas.microsoft.com/office/infopath/2007/PartnerControls"/>
    <ds:schemaRef ds:uri="94008fd3-b537-4411-a89b-cf5b12e655aa"/>
    <ds:schemaRef ds:uri="50a2e15d-c978-461f-9009-db73363369d6"/>
  </ds:schemaRefs>
</ds:datastoreItem>
</file>

<file path=customXml/itemProps2.xml><?xml version="1.0" encoding="utf-8"?>
<ds:datastoreItem xmlns:ds="http://schemas.openxmlformats.org/officeDocument/2006/customXml" ds:itemID="{BB4AC6EB-E099-46B5-9D1B-E341EDE735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80FB06-988B-4A9E-AE23-57D069A3C0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008fd3-b537-4411-a89b-cf5b12e655aa"/>
    <ds:schemaRef ds:uri="50a2e15d-c978-461f-9009-db73363369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808</Words>
  <Application>Microsoft Office PowerPoint</Application>
  <PresentationFormat>Widescreen</PresentationFormat>
  <Paragraphs>106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McDonnell</dc:creator>
  <cp:lastModifiedBy>Kevin McDonnell</cp:lastModifiedBy>
  <cp:revision>11</cp:revision>
  <dcterms:created xsi:type="dcterms:W3CDTF">2025-06-04T14:09:09Z</dcterms:created>
  <dcterms:modified xsi:type="dcterms:W3CDTF">2026-05-28T12:35:27Z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0x0101009468801504154C4F9E8BF4E56E76FBC1</vt:lpwstr>
  </property>
  <property fmtid="{D5CDD505-2E9C-101B-9397-08002B2CF9AE}" pid="3" name="MediaServiceImageTags">
    <vt:lpwstr/>
  </property>
</Properties>
</file>