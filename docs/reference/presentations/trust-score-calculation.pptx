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147483242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08" autoAdjust="0"/>
    <p:restoredTop sz="94660"/>
  </p:normalViewPr>
  <p:slideViewPr>
    <p:cSldViewPr snapToGrid="0">
      <p:cViewPr varScale="1">
        <p:scale>
          <a:sx n="88" d="100"/>
          <a:sy n="88" d="100"/>
        </p:scale>
        <p:origin x="93" y="6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10" Type="http://schemas.openxmlformats.org/officeDocument/2006/relationships/customXml" Target="../customXml/item3.xml"/><Relationship Id="rId4" Type="http://schemas.openxmlformats.org/officeDocument/2006/relationships/presProps" Target="presProps.xml"/><Relationship Id="rId9" Type="http://schemas.openxmlformats.org/officeDocument/2006/relationships/customXml" Target="../customXml/item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5EDD15-87DA-44DD-8972-BCDDF0FFB2E8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594D6D-1ADB-467E-A6BC-9268EA361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16521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68005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ontent with Image - Opt 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FD5DCE8E-F842-6AC7-6D24-2A9BB50E1F3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6184933" cy="6858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CAD2F48-5808-CCD7-C9E1-17B48E90694E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99" b="299"/>
          <a:stretch/>
        </p:blipFill>
        <p:spPr>
          <a:xfrm>
            <a:off x="0" y="6403538"/>
            <a:ext cx="12192000" cy="454463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038C43-B78A-8B8F-387B-66B23839023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idx="1"/>
          </p:nvPr>
        </p:nvSpPr>
        <p:spPr>
          <a:xfrm>
            <a:off x="418801" y="2268000"/>
            <a:ext cx="5540401" cy="39474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A09290-58BB-9865-B269-6CCBF0B0846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Month DD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64628E-8AFC-8EF6-8786-AD9F0ADE694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2A9DED-5BBB-EDBA-B606-2F78ABA4B0A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DD8F28C-E404-44CF-9F42-4614D03DA8C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8FE2289-9AB1-DE08-36C0-7CFA759DAC9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/>
          </p:nvPr>
        </p:nvSpPr>
        <p:spPr>
          <a:xfrm>
            <a:off x="418801" y="282602"/>
            <a:ext cx="5540401" cy="1025999"/>
          </a:xfrm>
        </p:spPr>
        <p:txBody>
          <a:bodyPr/>
          <a:lstStyle>
            <a:lvl1pPr>
              <a:lnSpc>
                <a:spcPts val="3000"/>
              </a:lnSpc>
              <a:spcAft>
                <a:spcPts val="0"/>
              </a:spcAft>
              <a:defRPr sz="2800" b="1">
                <a:solidFill>
                  <a:schemeClr val="bg1"/>
                </a:solidFill>
                <a:latin typeface="+mj-lt"/>
              </a:defRPr>
            </a:lvl1pPr>
            <a:lvl2pPr marL="0" indent="0">
              <a:lnSpc>
                <a:spcPts val="2800"/>
              </a:lnSpc>
              <a:spcAft>
                <a:spcPts val="0"/>
              </a:spcAft>
              <a:buNone/>
              <a:defRPr sz="2600" b="0">
                <a:solidFill>
                  <a:schemeClr val="bg1"/>
                </a:solidFill>
                <a:latin typeface="Aptos Light" panose="020B000402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17D40A1F-529E-1066-9D9A-333468BDE68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4"/>
          </p:nvPr>
        </p:nvSpPr>
        <p:spPr>
          <a:xfrm>
            <a:off x="6184933" y="226800"/>
            <a:ext cx="5821067" cy="5943600"/>
          </a:xfrm>
          <a:solidFill>
            <a:schemeClr val="bg2"/>
          </a:solidFill>
        </p:spPr>
        <p:txBody>
          <a:bodyPr anchor="ctr"/>
          <a:lstStyle>
            <a:lvl1pPr algn="ctr">
              <a:defRPr b="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9CDBA17-0486-7615-338E-FDC04999F70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438037" y="6538913"/>
            <a:ext cx="1964364" cy="23702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GB" sz="1200" dirty="0">
                <a:solidFill>
                  <a:schemeClr val="bg1"/>
                </a:solidFill>
              </a:rPr>
              <a:t>© 2026 TM Forum</a:t>
            </a:r>
          </a:p>
        </p:txBody>
      </p:sp>
    </p:spTree>
    <p:extLst>
      <p:ext uri="{BB962C8B-B14F-4D97-AF65-F5344CB8AC3E}">
        <p14:creationId xmlns:p14="http://schemas.microsoft.com/office/powerpoint/2010/main" val="15957088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13719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hf sldNum="0" hdr="0" ftr="0" dt="0"/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377"/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Agent Trust Score is Calculated</a:t>
            </a:r>
            <a:endParaRPr lang="en-US" sz="2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377"/>
            <a:r>
              <a:rPr lang="en-US" sz="1200" dirty="0">
                <a:solidFill>
                  <a:srgbClr val="7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RADCOM Governance Agent  ·  Advisory Mode  ·  Phase 3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1005841"/>
            <a:ext cx="11247120" cy="2286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143000"/>
            <a:ext cx="5029200" cy="5303520"/>
          </a:xfrm>
          <a:prstGeom prst="rect">
            <a:avLst/>
          </a:prstGeom>
          <a:solidFill>
            <a:srgbClr val="162640"/>
          </a:solidFill>
          <a:ln w="12700">
            <a:solidFill>
              <a:srgbClr val="1E3A5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28016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377"/>
            <a:r>
              <a:rPr lang="en-US" sz="2000" b="1" kern="0" spc="3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FORMULA</a:t>
            </a:r>
            <a:endParaRPr lang="en-US" sz="2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02920" y="1600200"/>
            <a:ext cx="4663440" cy="777240"/>
          </a:xfrm>
          <a:prstGeom prst="rect">
            <a:avLst/>
          </a:prstGeom>
          <a:solidFill>
            <a:srgbClr val="0A1628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664208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914377"/>
            <a:r>
              <a:rPr lang="en-US" sz="2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Score(agent)  =  Σ  impact(interactionᵢ)</a:t>
            </a:r>
            <a:endParaRPr lang="en-US" sz="2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548640" y="208483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914377"/>
            <a:r>
              <a:rPr lang="en-US" sz="900" i="1" dirty="0">
                <a:solidFill>
                  <a:srgbClr val="7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summed across all governance-intercepted interactions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02920" y="2468880"/>
            <a:ext cx="4663440" cy="1078992"/>
          </a:xfrm>
          <a:prstGeom prst="rect">
            <a:avLst/>
          </a:prstGeom>
          <a:solidFill>
            <a:srgbClr val="1A2F4A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2468880"/>
            <a:ext cx="54864" cy="107899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8368" y="2606040"/>
            <a:ext cx="777240" cy="25603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260604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377"/>
            <a:r>
              <a:rPr lang="en-US" sz="1051" b="1" dirty="0">
                <a:solidFill>
                  <a:srgbClr val="0F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</a:t>
            </a:r>
            <a:endParaRPr lang="en-US" sz="1051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977640" y="2542032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defTabSz="914377"/>
            <a:r>
              <a:rPr lang="en-US" sz="2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+0.05</a:t>
            </a:r>
            <a:endParaRPr lang="en-US" sz="2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58368" y="29260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377"/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 complies with rule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58368" y="3200400"/>
            <a:ext cx="4160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377"/>
            <a:r>
              <a:rPr lang="en-US" sz="951" i="1" dirty="0">
                <a:solidFill>
                  <a:srgbClr val="7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respected → reputation builds</a:t>
            </a:r>
            <a:endParaRPr lang="en-US" sz="951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02920" y="3703320"/>
            <a:ext cx="4663440" cy="1078992"/>
          </a:xfrm>
          <a:prstGeom prst="rect">
            <a:avLst/>
          </a:prstGeom>
          <a:solidFill>
            <a:srgbClr val="1A2F4A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3703320"/>
            <a:ext cx="54864" cy="10789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3840480"/>
            <a:ext cx="777240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" y="384048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377"/>
            <a:r>
              <a:rPr lang="en-US" sz="1051" b="1" dirty="0">
                <a:solidFill>
                  <a:srgbClr val="0F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REDACT</a:t>
            </a:r>
            <a:endParaRPr lang="en-US" sz="1051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3977640" y="3776472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defTabSz="914377"/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−0.01</a:t>
            </a:r>
            <a:endParaRPr lang="en-US" sz="2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58368" y="41605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377"/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compliance — PII removed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58368" y="4434840"/>
            <a:ext cx="4160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377"/>
            <a:r>
              <a:rPr lang="en-US" sz="951" i="1" dirty="0">
                <a:solidFill>
                  <a:srgbClr val="7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 infraction, low penalty</a:t>
            </a:r>
            <a:endParaRPr lang="en-US" sz="951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502920" y="4937760"/>
            <a:ext cx="4663440" cy="1078992"/>
          </a:xfrm>
          <a:prstGeom prst="rect">
            <a:avLst/>
          </a:prstGeom>
          <a:solidFill>
            <a:srgbClr val="1A2F4A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2920" y="4937760"/>
            <a:ext cx="54864" cy="107899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8368" y="5074920"/>
            <a:ext cx="777240" cy="25603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8368" y="507492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377"/>
            <a:r>
              <a:rPr lang="en-US" sz="1051" b="1" dirty="0">
                <a:solidFill>
                  <a:srgbClr val="0F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</a:t>
            </a:r>
            <a:endParaRPr lang="en-US" sz="1051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3977640" y="5010912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defTabSz="914377"/>
            <a:r>
              <a:rPr lang="en-US" sz="2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−1.05</a:t>
            </a:r>
            <a:endParaRPr lang="en-US" sz="2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658368" y="53949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377"/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 violates rule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658368" y="5669280"/>
            <a:ext cx="4160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377"/>
            <a:r>
              <a:rPr lang="en-US" sz="1100" i="1" dirty="0">
                <a:solidFill>
                  <a:srgbClr val="7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Serious breach → steep deduction</a:t>
            </a:r>
            <a:endParaRPr lang="en-US" sz="11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5669280" y="1037844"/>
            <a:ext cx="6172200" cy="2423160"/>
          </a:xfrm>
          <a:prstGeom prst="rect">
            <a:avLst/>
          </a:prstGeom>
          <a:solidFill>
            <a:srgbClr val="162640"/>
          </a:solidFill>
          <a:ln w="12700">
            <a:solidFill>
              <a:srgbClr val="1E3A5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pPr defTabSz="914377"/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 </a:t>
            </a:r>
          </a:p>
        </p:txBody>
      </p:sp>
      <p:sp>
        <p:nvSpPr>
          <p:cNvPr id="32" name="Text 30"/>
          <p:cNvSpPr/>
          <p:nvPr/>
        </p:nvSpPr>
        <p:spPr>
          <a:xfrm>
            <a:off x="5852160" y="1280160"/>
            <a:ext cx="5760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377"/>
            <a:r>
              <a:rPr lang="en-US" sz="2000" b="1" kern="0" spc="3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OVER TIME — ILLUSTRATIVE</a:t>
            </a:r>
            <a:endParaRPr lang="en-US" sz="2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5943600" y="3108960"/>
            <a:ext cx="5577840" cy="0"/>
          </a:xfrm>
          <a:prstGeom prst="line">
            <a:avLst/>
          </a:prstGeom>
          <a:noFill/>
          <a:ln w="12700">
            <a:solidFill>
              <a:srgbClr val="2A4A6A"/>
            </a:solidFill>
            <a:prstDash val="dash"/>
          </a:ln>
        </p:spPr>
      </p:sp>
      <p:sp>
        <p:nvSpPr>
          <p:cNvPr id="34" name="Text 32"/>
          <p:cNvSpPr/>
          <p:nvPr/>
        </p:nvSpPr>
        <p:spPr>
          <a:xfrm>
            <a:off x="5760720" y="3035808"/>
            <a:ext cx="228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377"/>
            <a:r>
              <a:rPr lang="en-US" sz="800" dirty="0">
                <a:solidFill>
                  <a:srgbClr val="7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5" name="Shape 33"/>
          <p:cNvSpPr/>
          <p:nvPr/>
        </p:nvSpPr>
        <p:spPr>
          <a:xfrm rot="-956724">
            <a:off x="6254082" y="2548879"/>
            <a:ext cx="665693" cy="0"/>
          </a:xfrm>
          <a:prstGeom prst="line">
            <a:avLst/>
          </a:prstGeom>
          <a:noFill/>
          <a:ln w="19050">
            <a:solidFill>
              <a:srgbClr val="C8D8E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 rot="487806">
            <a:off x="6907597" y="2494015"/>
            <a:ext cx="646579" cy="0"/>
          </a:xfrm>
          <a:prstGeom prst="line">
            <a:avLst/>
          </a:prstGeom>
          <a:noFill/>
          <a:ln w="19050">
            <a:solidFill>
              <a:srgbClr val="C8D8E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 rot="-956724">
            <a:off x="7527746" y="2439149"/>
            <a:ext cx="665693" cy="0"/>
          </a:xfrm>
          <a:prstGeom prst="line">
            <a:avLst/>
          </a:prstGeom>
          <a:noFill/>
          <a:ln w="19050">
            <a:solidFill>
              <a:srgbClr val="C8D8E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 rot="2436078">
            <a:off x="8128123" y="2660905"/>
            <a:ext cx="843035" cy="0"/>
          </a:xfrm>
          <a:prstGeom prst="line">
            <a:avLst/>
          </a:prstGeom>
          <a:noFill/>
          <a:ln w="19050">
            <a:solidFill>
              <a:srgbClr val="C8D8E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 rot="-956724">
            <a:off x="8802010" y="2842420"/>
            <a:ext cx="665693" cy="0"/>
          </a:xfrm>
          <a:prstGeom prst="line">
            <a:avLst/>
          </a:prstGeom>
          <a:noFill/>
          <a:ln w="19050">
            <a:solidFill>
              <a:srgbClr val="C8D8E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 rot="-956724">
            <a:off x="9451235" y="2659563"/>
            <a:ext cx="665693" cy="0"/>
          </a:xfrm>
          <a:prstGeom prst="line">
            <a:avLst/>
          </a:prstGeom>
          <a:noFill/>
          <a:ln w="19050">
            <a:solidFill>
              <a:srgbClr val="C8D8E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 rot="-956724">
            <a:off x="10104122" y="2457655"/>
            <a:ext cx="665693" cy="0"/>
          </a:xfrm>
          <a:prstGeom prst="line">
            <a:avLst/>
          </a:prstGeom>
          <a:noFill/>
          <a:ln w="19050">
            <a:solidFill>
              <a:srgbClr val="C8D8E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199632" y="2542032"/>
            <a:ext cx="128016" cy="12801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839712" y="2359152"/>
            <a:ext cx="128016" cy="12801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479792" y="2450592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119872" y="2267712"/>
            <a:ext cx="128016" cy="12801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69707" y="2859787"/>
            <a:ext cx="128016" cy="12801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400032" y="2633472"/>
            <a:ext cx="128016" cy="12801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0040112" y="2450592"/>
            <a:ext cx="128016" cy="12801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0680192" y="2267712"/>
            <a:ext cx="128016" cy="12801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 flipH="1" flipV="1">
            <a:off x="8809478" y="2939073"/>
            <a:ext cx="681993" cy="3931"/>
          </a:xfrm>
          <a:prstGeom prst="line">
            <a:avLst/>
          </a:prstGeom>
          <a:noFill/>
          <a:ln w="12700">
            <a:solidFill>
              <a:srgbClr val="EF4444"/>
            </a:solidFill>
            <a:prstDash val="sysDot"/>
          </a:ln>
        </p:spPr>
      </p:sp>
      <p:sp>
        <p:nvSpPr>
          <p:cNvPr id="51" name="Text 49"/>
          <p:cNvSpPr/>
          <p:nvPr/>
        </p:nvSpPr>
        <p:spPr>
          <a:xfrm>
            <a:off x="9194168" y="2727211"/>
            <a:ext cx="28061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914377"/>
            <a:r>
              <a:rPr lang="en-US" sz="2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agent event</a:t>
            </a:r>
            <a:endParaRPr lang="en-US" sz="2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5943600" y="3182112"/>
            <a:ext cx="5029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377"/>
            <a:r>
              <a:rPr lang="en-US" sz="1051" i="1" dirty="0">
                <a:solidFill>
                  <a:srgbClr val="7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Interactions over time →</a:t>
            </a:r>
            <a:endParaRPr lang="en-US" sz="1051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3" name="Text 51"/>
          <p:cNvSpPr/>
          <p:nvPr/>
        </p:nvSpPr>
        <p:spPr>
          <a:xfrm rot="16200000">
            <a:off x="5382253" y="1577340"/>
            <a:ext cx="1234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377"/>
            <a:r>
              <a:rPr lang="en-US" sz="2000" i="1" dirty="0">
                <a:solidFill>
                  <a:prstClr val="whit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Score →</a:t>
            </a:r>
            <a:endParaRPr lang="en-US" sz="200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54" name="Shape 52"/>
          <p:cNvSpPr/>
          <p:nvPr/>
        </p:nvSpPr>
        <p:spPr>
          <a:xfrm>
            <a:off x="5669280" y="3730752"/>
            <a:ext cx="6172200" cy="2715768"/>
          </a:xfrm>
          <a:prstGeom prst="rect">
            <a:avLst/>
          </a:prstGeom>
          <a:solidFill>
            <a:srgbClr val="162640"/>
          </a:solidFill>
          <a:ln w="12700">
            <a:solidFill>
              <a:srgbClr val="1E3A5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5852160" y="3858768"/>
            <a:ext cx="5760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377"/>
            <a:r>
              <a:rPr lang="en-US" b="1" kern="0" spc="3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 is Evidence-Based Confidence</a:t>
            </a:r>
            <a:endParaRPr lang="en-US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6" name="Shape 54"/>
          <p:cNvSpPr/>
          <p:nvPr/>
        </p:nvSpPr>
        <p:spPr>
          <a:xfrm>
            <a:off x="5806440" y="4169664"/>
            <a:ext cx="201168" cy="20116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806440" y="416966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377"/>
            <a:r>
              <a:rPr lang="en-US" sz="1051" b="1" dirty="0">
                <a:solidFill>
                  <a:srgbClr val="0F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1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8" name="Text 56"/>
          <p:cNvSpPr/>
          <p:nvPr/>
        </p:nvSpPr>
        <p:spPr>
          <a:xfrm>
            <a:off x="6080760" y="4169664"/>
            <a:ext cx="5577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377"/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sets the impact values?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9" name="Text 57"/>
          <p:cNvSpPr/>
          <p:nvPr/>
        </p:nvSpPr>
        <p:spPr>
          <a:xfrm>
            <a:off x="6080760" y="4389120"/>
            <a:ext cx="5577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377"/>
            <a:r>
              <a:rPr lang="en-US" sz="1100" dirty="0">
                <a:solidFill>
                  <a:srgbClr val="7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CSP — per rule, at authoring time. Values above are RADCOM defaults, fully configurable.</a:t>
            </a:r>
            <a:endParaRPr lang="en-US" sz="11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0" name="Shape 58"/>
          <p:cNvSpPr/>
          <p:nvPr/>
        </p:nvSpPr>
        <p:spPr>
          <a:xfrm>
            <a:off x="5806440" y="4709160"/>
            <a:ext cx="201168" cy="20116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806440" y="470916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377"/>
            <a:r>
              <a:rPr lang="en-US" sz="1051" b="1" dirty="0">
                <a:solidFill>
                  <a:srgbClr val="0F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1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2" name="Text 60"/>
          <p:cNvSpPr/>
          <p:nvPr/>
        </p:nvSpPr>
        <p:spPr>
          <a:xfrm>
            <a:off x="6080760" y="4709160"/>
            <a:ext cx="5577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377"/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score bounded?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3" name="Text 61"/>
          <p:cNvSpPr/>
          <p:nvPr/>
        </p:nvSpPr>
        <p:spPr>
          <a:xfrm>
            <a:off x="6080760" y="4928616"/>
            <a:ext cx="5577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377"/>
            <a:r>
              <a:rPr lang="en-US" sz="1100" dirty="0">
                <a:solidFill>
                  <a:srgbClr val="7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by the operator. Accumulates from observed behavior; thresholds trigger advisory alerts.</a:t>
            </a:r>
            <a:endParaRPr lang="en-US" sz="11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4" name="Shape 62"/>
          <p:cNvSpPr/>
          <p:nvPr/>
        </p:nvSpPr>
        <p:spPr>
          <a:xfrm>
            <a:off x="5806440" y="5248656"/>
            <a:ext cx="201168" cy="20116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806440" y="524865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377"/>
            <a:r>
              <a:rPr lang="en-US" sz="1051" b="1" dirty="0">
                <a:solidFill>
                  <a:srgbClr val="0F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1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6" name="Text 64"/>
          <p:cNvSpPr/>
          <p:nvPr/>
        </p:nvSpPr>
        <p:spPr>
          <a:xfrm>
            <a:off x="6080760" y="5248656"/>
            <a:ext cx="5577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377"/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triggers an alert?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7" name="Text 65"/>
          <p:cNvSpPr/>
          <p:nvPr/>
        </p:nvSpPr>
        <p:spPr>
          <a:xfrm>
            <a:off x="6080760" y="5468112"/>
            <a:ext cx="5577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377"/>
            <a:r>
              <a:rPr lang="en-US" sz="1100" dirty="0">
                <a:solidFill>
                  <a:srgbClr val="7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crossing a configurable threshold — not individual rule violations. Sustained behavior, not one-off events.</a:t>
            </a:r>
            <a:endParaRPr lang="en-US" sz="11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8" name="Shape 66"/>
          <p:cNvSpPr/>
          <p:nvPr/>
        </p:nvSpPr>
        <p:spPr>
          <a:xfrm>
            <a:off x="5806440" y="5788152"/>
            <a:ext cx="201168" cy="20116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806440" y="578815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377"/>
            <a:r>
              <a:rPr lang="en-US" sz="1051" b="1" dirty="0">
                <a:solidFill>
                  <a:srgbClr val="0F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1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0" name="Text 68"/>
          <p:cNvSpPr/>
          <p:nvPr/>
        </p:nvSpPr>
        <p:spPr>
          <a:xfrm>
            <a:off x="6080760" y="5788152"/>
            <a:ext cx="5577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377"/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scope?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1" name="Text 69"/>
          <p:cNvSpPr/>
          <p:nvPr/>
        </p:nvSpPr>
        <p:spPr>
          <a:xfrm>
            <a:off x="6080760" y="6007608"/>
            <a:ext cx="5577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377"/>
            <a:r>
              <a:rPr lang="en-US" sz="1100" dirty="0">
                <a:solidFill>
                  <a:srgbClr val="7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Advisory mode only. Score is visible on dashboard, surfaced for human review. Automated enforcement is Phase 4.</a:t>
            </a:r>
            <a:endParaRPr lang="en-US" sz="11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4" name="Shape 32">
            <a:extLst>
              <a:ext uri="{FF2B5EF4-FFF2-40B4-BE49-F238E27FC236}">
                <a16:creationId xmlns:a16="http://schemas.microsoft.com/office/drawing/2014/main" id="{4670098B-378C-4D02-B170-077765743424}"/>
              </a:ext>
            </a:extLst>
          </p:cNvPr>
          <p:cNvSpPr/>
          <p:nvPr/>
        </p:nvSpPr>
        <p:spPr>
          <a:xfrm>
            <a:off x="548640" y="6388608"/>
            <a:ext cx="11094720" cy="0"/>
          </a:xfrm>
          <a:prstGeom prst="line">
            <a:avLst/>
          </a:prstGeom>
          <a:noFill/>
          <a:ln w="6350">
            <a:noFill/>
            <a:prstDash val="solid"/>
          </a:ln>
        </p:spPr>
      </p:sp>
      <p:sp>
        <p:nvSpPr>
          <p:cNvPr id="75" name="FooterBar">
            <a:extLst>
              <a:ext uri="{FF2B5EF4-FFF2-40B4-BE49-F238E27FC236}">
                <a16:creationId xmlns:a16="http://schemas.microsoft.com/office/drawing/2014/main" id="{814190A7-810C-48E6-A284-3BAFB29EA3DB}"/>
              </a:ext>
            </a:extLst>
          </p:cNvPr>
          <p:cNvSpPr/>
          <p:nvPr/>
        </p:nvSpPr>
        <p:spPr>
          <a:xfrm>
            <a:off x="0" y="6403538"/>
            <a:ext cx="12192000" cy="454463"/>
          </a:xfrm>
          <a:prstGeom prst="rect">
            <a:avLst/>
          </a:prstGeom>
          <a:gradFill>
            <a:gsLst>
              <a:gs pos="0">
                <a:srgbClr val="1B0F45"/>
              </a:gs>
              <a:gs pos="55000">
                <a:srgbClr val="6E0E4E"/>
              </a:gs>
              <a:gs pos="100000">
                <a:srgbClr val="D1005D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pPr defTabSz="1219170"/>
            <a:endParaRPr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6" name="FtrLeft">
            <a:extLst>
              <a:ext uri="{FF2B5EF4-FFF2-40B4-BE49-F238E27FC236}">
                <a16:creationId xmlns:a16="http://schemas.microsoft.com/office/drawing/2014/main" id="{B7C3BFC8-0003-4E00-83B2-B6047692E60D}"/>
              </a:ext>
            </a:extLst>
          </p:cNvPr>
          <p:cNvSpPr txBox="1"/>
          <p:nvPr/>
        </p:nvSpPr>
        <p:spPr>
          <a:xfrm>
            <a:off x="304800" y="6488854"/>
            <a:ext cx="3200000" cy="293333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defTabSz="1219170"/>
            <a:r>
              <a:rPr lang="en-GB" sz="1200" dirty="0">
                <a:solidFill>
                  <a:srgbClr val="FFFFFF"/>
                </a:solidFill>
                <a:latin typeface="Calibri" panose="020F0502020204030204"/>
              </a:rPr>
              <a:t>© 2026 TM Forum</a:t>
            </a:r>
          </a:p>
        </p:txBody>
      </p:sp>
      <p:sp>
        <p:nvSpPr>
          <p:cNvPr id="77" name="FtrCenter">
            <a:extLst>
              <a:ext uri="{FF2B5EF4-FFF2-40B4-BE49-F238E27FC236}">
                <a16:creationId xmlns:a16="http://schemas.microsoft.com/office/drawing/2014/main" id="{CD69B8AB-9A79-4126-9C39-48F2A19CAB73}"/>
              </a:ext>
            </a:extLst>
          </p:cNvPr>
          <p:cNvSpPr txBox="1"/>
          <p:nvPr/>
        </p:nvSpPr>
        <p:spPr>
          <a:xfrm>
            <a:off x="3496000" y="6488854"/>
            <a:ext cx="5200000" cy="293333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 defTabSz="1219170"/>
            <a:r>
              <a:rPr lang="en-GB" sz="1200" dirty="0">
                <a:solidFill>
                  <a:srgbClr val="FFFFFF"/>
                </a:solidFill>
                <a:latin typeface="Calibri" panose="020F0502020204030204"/>
              </a:rPr>
              <a:t>C26.0.910 Agent Fabric: A2A-T Runtime Phase III</a:t>
            </a:r>
          </a:p>
        </p:txBody>
      </p:sp>
      <p:sp>
        <p:nvSpPr>
          <p:cNvPr id="78" name="FtrDate">
            <a:extLst>
              <a:ext uri="{FF2B5EF4-FFF2-40B4-BE49-F238E27FC236}">
                <a16:creationId xmlns:a16="http://schemas.microsoft.com/office/drawing/2014/main" id="{20B3D18D-9096-4B62-9B39-6AC0FF819120}"/>
              </a:ext>
            </a:extLst>
          </p:cNvPr>
          <p:cNvSpPr txBox="1"/>
          <p:nvPr/>
        </p:nvSpPr>
        <p:spPr>
          <a:xfrm>
            <a:off x="9333333" y="6488854"/>
            <a:ext cx="1866667" cy="293333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 defTabSz="1219170"/>
            <a:r>
              <a:rPr lang="en-GB" sz="1200" dirty="0">
                <a:solidFill>
                  <a:srgbClr val="FFFFFF"/>
                </a:solidFill>
                <a:latin typeface="Calibri" panose="020F0502020204030204"/>
              </a:rPr>
              <a:t>June 2026</a:t>
            </a:r>
          </a:p>
        </p:txBody>
      </p:sp>
      <p:sp>
        <p:nvSpPr>
          <p:cNvPr id="79" name="FtrNum">
            <a:extLst>
              <a:ext uri="{FF2B5EF4-FFF2-40B4-BE49-F238E27FC236}">
                <a16:creationId xmlns:a16="http://schemas.microsoft.com/office/drawing/2014/main" id="{183C52C9-580B-44A9-8EA6-31B426F7EE05}"/>
              </a:ext>
            </a:extLst>
          </p:cNvPr>
          <p:cNvSpPr txBox="1"/>
          <p:nvPr/>
        </p:nvSpPr>
        <p:spPr>
          <a:xfrm>
            <a:off x="11400000" y="6488854"/>
            <a:ext cx="560000" cy="293333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 defTabSz="1219170"/>
            <a:fld id="{B7E3A1C2-9F4D-4E8A-B1C3-0A1B2C3D4E5F}" type="slidenum">
              <a:rPr lang="en-GB" sz="1200" dirty="0">
                <a:solidFill>
                  <a:srgbClr val="FFFFFF"/>
                </a:solidFill>
                <a:latin typeface="Calibri" panose="020F0502020204030204"/>
              </a:rPr>
              <a:pPr algn="r" defTabSz="1219170"/>
              <a:t>1</a:t>
            </a:fld>
            <a:endParaRPr lang="en-GB" sz="1200" dirty="0">
              <a:solidFill>
                <a:srgbClr val="FFFFFF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468801504154C4F9E8BF4E56E76FBC1" ma:contentTypeVersion="11" ma:contentTypeDescription="Create a new document." ma:contentTypeScope="" ma:versionID="997597acb64a503e189faf38d7319683">
  <xsd:schema xmlns:xsd="http://www.w3.org/2001/XMLSchema" xmlns:xs="http://www.w3.org/2001/XMLSchema" xmlns:p="http://schemas.microsoft.com/office/2006/metadata/properties" xmlns:ns2="94008fd3-b537-4411-a89b-cf5b12e655aa" xmlns:ns3="50a2e15d-c978-461f-9009-db73363369d6" targetNamespace="http://schemas.microsoft.com/office/2006/metadata/properties" ma:root="true" ma:fieldsID="b577a486f710de21fd9d90451b32db53" ns2:_="" ns3:_="">
    <xsd:import namespace="94008fd3-b537-4411-a89b-cf5b12e655aa"/>
    <xsd:import namespace="50a2e15d-c978-461f-9009-db73363369d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4008fd3-b537-4411-a89b-cf5b12e655a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d6c21206-e962-4e70-b7c6-9737299e2fc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a2e15d-c978-461f-9009-db73363369d6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361e7a08-8203-457c-9ed7-f5fd7b376889}" ma:internalName="TaxCatchAll" ma:showField="CatchAllData" ma:web="50a2e15d-c978-461f-9009-db73363369d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4008fd3-b537-4411-a89b-cf5b12e655aa">
      <Terms xmlns="http://schemas.microsoft.com/office/infopath/2007/PartnerControls"/>
    </lcf76f155ced4ddcb4097134ff3c332f>
    <TaxCatchAll xmlns="50a2e15d-c978-461f-9009-db73363369d6" xsi:nil="true"/>
  </documentManagement>
</p:properties>
</file>

<file path=customXml/itemProps1.xml><?xml version="1.0" encoding="utf-8"?>
<ds:datastoreItem xmlns:ds="http://schemas.openxmlformats.org/officeDocument/2006/customXml" ds:itemID="{C1076A30-1736-46F8-8D2F-5FBA51E3FF32}"/>
</file>

<file path=customXml/itemProps2.xml><?xml version="1.0" encoding="utf-8"?>
<ds:datastoreItem xmlns:ds="http://schemas.openxmlformats.org/officeDocument/2006/customXml" ds:itemID="{0F1EAF64-B1C5-4A7A-B1A5-ED089FE55DE4}"/>
</file>

<file path=customXml/itemProps3.xml><?xml version="1.0" encoding="utf-8"?>
<ds:datastoreItem xmlns:ds="http://schemas.openxmlformats.org/officeDocument/2006/customXml" ds:itemID="{DC4190A8-6956-48B8-AE9D-FF4C4AEE75FB}"/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203</Words>
  <Application>Microsoft Office PowerPoint</Application>
  <PresentationFormat>Widescreen</PresentationFormat>
  <Paragraphs>41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 Light</vt:lpstr>
      <vt:lpstr>Arial</vt:lpstr>
      <vt:lpstr>Calibri</vt:lpstr>
      <vt:lpstr>Calibri Light</vt:lpstr>
      <vt:lpstr>1_Office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Kevin McDonnell</dc:creator>
  <cp:lastModifiedBy>Kevin McDonnell</cp:lastModifiedBy>
  <cp:revision>1</cp:revision>
  <dcterms:created xsi:type="dcterms:W3CDTF">2026-06-16T14:11:51Z</dcterms:created>
  <dcterms:modified xsi:type="dcterms:W3CDTF">2026-06-16T14:14:08Z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0x0101009468801504154C4F9E8BF4E56E76FBC1</vt:lpwstr>
  </property>
</Properties>
</file>